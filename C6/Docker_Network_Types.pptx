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6B6D4"/>
          </a:solidFill>
          <a:ln w="12700">
            <a:solidFill>
              <a:srgbClr val="06B6D4"/>
            </a:solidFill>
            <a:prstDash val="solid"/>
          </a:ln>
        </p:spPr>
      </p:sp>
      <p:sp>
        <p:nvSpPr>
          <p:cNvPr id="3" name="Shape 1"/>
          <p:cNvSpPr/>
          <p:nvPr/>
        </p:nvSpPr>
        <p:spPr>
          <a:xfrm>
            <a:off x="457200" y="4389120"/>
            <a:ext cx="1097280" cy="54864"/>
          </a:xfrm>
          <a:prstGeom prst="rect">
            <a:avLst/>
          </a:prstGeom>
          <a:solidFill>
            <a:srgbClr val="0E7490">
              <a:alpha val="40000"/>
            </a:srgbClr>
          </a:solidFill>
          <a:ln w="12700">
            <a:solidFill>
              <a:srgbClr val="0E7490">
                <a:alpha val="40000"/>
              </a:srgbClr>
            </a:solidFill>
            <a:prstDash val="solid"/>
          </a:ln>
        </p:spPr>
      </p:sp>
      <p:sp>
        <p:nvSpPr>
          <p:cNvPr id="4" name="Shape 2"/>
          <p:cNvSpPr/>
          <p:nvPr/>
        </p:nvSpPr>
        <p:spPr>
          <a:xfrm>
            <a:off x="1920240" y="4389120"/>
            <a:ext cx="1097280" cy="54864"/>
          </a:xfrm>
          <a:prstGeom prst="rect">
            <a:avLst/>
          </a:prstGeom>
          <a:solidFill>
            <a:srgbClr val="0E7490">
              <a:alpha val="40000"/>
            </a:srgbClr>
          </a:solidFill>
          <a:ln w="12700">
            <a:solidFill>
              <a:srgbClr val="0E7490">
                <a:alpha val="40000"/>
              </a:srgbClr>
            </a:solidFill>
            <a:prstDash val="solid"/>
          </a:ln>
        </p:spPr>
      </p:sp>
      <p:sp>
        <p:nvSpPr>
          <p:cNvPr id="5" name="Shape 3"/>
          <p:cNvSpPr/>
          <p:nvPr/>
        </p:nvSpPr>
        <p:spPr>
          <a:xfrm>
            <a:off x="3383280" y="4389120"/>
            <a:ext cx="1097280" cy="54864"/>
          </a:xfrm>
          <a:prstGeom prst="rect">
            <a:avLst/>
          </a:prstGeom>
          <a:solidFill>
            <a:srgbClr val="0E7490">
              <a:alpha val="40000"/>
            </a:srgbClr>
          </a:solidFill>
          <a:ln w="12700">
            <a:solidFill>
              <a:srgbClr val="0E7490">
                <a:alpha val="40000"/>
              </a:srgbClr>
            </a:solidFill>
            <a:prstDash val="solid"/>
          </a:ln>
        </p:spPr>
      </p:sp>
      <p:sp>
        <p:nvSpPr>
          <p:cNvPr id="6" name="Shape 4"/>
          <p:cNvSpPr/>
          <p:nvPr/>
        </p:nvSpPr>
        <p:spPr>
          <a:xfrm>
            <a:off x="4846320" y="4389120"/>
            <a:ext cx="1097280" cy="54864"/>
          </a:xfrm>
          <a:prstGeom prst="rect">
            <a:avLst/>
          </a:prstGeom>
          <a:solidFill>
            <a:srgbClr val="0E7490">
              <a:alpha val="40000"/>
            </a:srgbClr>
          </a:solidFill>
          <a:ln w="12700">
            <a:solidFill>
              <a:srgbClr val="0E7490">
                <a:alpha val="40000"/>
              </a:srgbClr>
            </a:solidFill>
            <a:prstDash val="solid"/>
          </a:ln>
        </p:spPr>
      </p:sp>
      <p:sp>
        <p:nvSpPr>
          <p:cNvPr id="7" name="Shape 5"/>
          <p:cNvSpPr/>
          <p:nvPr/>
        </p:nvSpPr>
        <p:spPr>
          <a:xfrm>
            <a:off x="6309360" y="4389120"/>
            <a:ext cx="1097280" cy="54864"/>
          </a:xfrm>
          <a:prstGeom prst="rect">
            <a:avLst/>
          </a:prstGeom>
          <a:solidFill>
            <a:srgbClr val="0E7490">
              <a:alpha val="40000"/>
            </a:srgbClr>
          </a:solidFill>
          <a:ln w="12700">
            <a:solidFill>
              <a:srgbClr val="0E7490">
                <a:alpha val="40000"/>
              </a:srgbClr>
            </a:solidFill>
            <a:prstDash val="solid"/>
          </a:ln>
        </p:spPr>
      </p:sp>
      <p:sp>
        <p:nvSpPr>
          <p:cNvPr id="8" name="Shape 6"/>
          <p:cNvSpPr/>
          <p:nvPr/>
        </p:nvSpPr>
        <p:spPr>
          <a:xfrm>
            <a:off x="7772400" y="4389120"/>
            <a:ext cx="1097280" cy="54864"/>
          </a:xfrm>
          <a:prstGeom prst="rect">
            <a:avLst/>
          </a:prstGeom>
          <a:solidFill>
            <a:srgbClr val="0E7490">
              <a:alpha val="40000"/>
            </a:srgbClr>
          </a:solidFill>
          <a:ln w="12700">
            <a:solidFill>
              <a:srgbClr val="0E7490">
                <a:alpha val="40000"/>
              </a:srgbClr>
            </a:solidFill>
            <a:prstDash val="solid"/>
          </a:ln>
        </p:spPr>
      </p:sp>
      <p:sp>
        <p:nvSpPr>
          <p:cNvPr id="9" name="Text 7"/>
          <p:cNvSpPr/>
          <p:nvPr/>
        </p:nvSpPr>
        <p:spPr>
          <a:xfrm>
            <a:off x="365760" y="365760"/>
            <a:ext cx="8229600" cy="822960"/>
          </a:xfrm>
          <a:prstGeom prst="rect">
            <a:avLst/>
          </a:prstGeom>
          <a:noFill/>
          <a:ln/>
        </p:spPr>
        <p:txBody>
          <a:bodyPr wrap="square" lIns="0" tIns="0" rIns="0" bIns="0" rtlCol="0" anchor="ctr"/>
          <a:lstStyle/>
          <a:p>
            <a:pPr indent="0" marL="0">
              <a:buNone/>
            </a:pPr>
            <a:r>
              <a:rPr lang="en-US" sz="5200" b="1" spc="1200" kern="0" dirty="0">
                <a:solidFill>
                  <a:srgbClr val="06B6D4"/>
                </a:solidFill>
                <a:latin typeface="Arial Black" pitchFamily="34" charset="0"/>
                <a:ea typeface="Arial Black" pitchFamily="34" charset="-122"/>
                <a:cs typeface="Arial Black" pitchFamily="34" charset="-120"/>
              </a:rPr>
              <a:t>DOCKER</a:t>
            </a:r>
            <a:endParaRPr lang="en-US" sz="5200" dirty="0"/>
          </a:p>
        </p:txBody>
      </p:sp>
      <p:sp>
        <p:nvSpPr>
          <p:cNvPr id="10" name="Text 8"/>
          <p:cNvSpPr/>
          <p:nvPr/>
        </p:nvSpPr>
        <p:spPr>
          <a:xfrm>
            <a:off x="365760" y="1097280"/>
            <a:ext cx="8229600" cy="822960"/>
          </a:xfrm>
          <a:prstGeom prst="rect">
            <a:avLst/>
          </a:prstGeom>
          <a:noFill/>
          <a:ln/>
        </p:spPr>
        <p:txBody>
          <a:bodyPr wrap="square" lIns="0" tIns="0" rIns="0" bIns="0" rtlCol="0" anchor="ctr"/>
          <a:lstStyle/>
          <a:p>
            <a:pPr indent="0" marL="0">
              <a:buNone/>
            </a:pPr>
            <a:r>
              <a:rPr lang="en-US" sz="5200" b="1" spc="600" kern="0" dirty="0">
                <a:solidFill>
                  <a:srgbClr val="FFFFFF"/>
                </a:solidFill>
                <a:latin typeface="Arial Black" pitchFamily="34" charset="0"/>
                <a:ea typeface="Arial Black" pitchFamily="34" charset="-122"/>
                <a:cs typeface="Arial Black" pitchFamily="34" charset="-120"/>
              </a:rPr>
              <a:t>NETWORK TYPES</a:t>
            </a:r>
            <a:endParaRPr lang="en-US" sz="5200" dirty="0"/>
          </a:p>
        </p:txBody>
      </p:sp>
      <p:sp>
        <p:nvSpPr>
          <p:cNvPr id="11" name="Text 9"/>
          <p:cNvSpPr/>
          <p:nvPr/>
        </p:nvSpPr>
        <p:spPr>
          <a:xfrm>
            <a:off x="365760" y="2057400"/>
            <a:ext cx="6400800" cy="457200"/>
          </a:xfrm>
          <a:prstGeom prst="rect">
            <a:avLst/>
          </a:prstGeom>
          <a:noFill/>
          <a:ln/>
        </p:spPr>
        <p:txBody>
          <a:bodyPr wrap="square" lIns="0" tIns="0" rIns="0" bIns="0" rtlCol="0" anchor="ctr"/>
          <a:lstStyle/>
          <a:p>
            <a:pPr indent="0" marL="0">
              <a:buNone/>
            </a:pPr>
            <a:r>
              <a:rPr lang="en-US" sz="1800" i="1" dirty="0">
                <a:solidFill>
                  <a:srgbClr val="94A3B8"/>
                </a:solidFill>
                <a:latin typeface="Calibri" pitchFamily="34" charset="0"/>
                <a:ea typeface="Calibri" pitchFamily="34" charset="-122"/>
                <a:cs typeface="Calibri" pitchFamily="34" charset="-120"/>
              </a:rPr>
              <a:t>A Visual Deep Dive with Real-World Analogies</a:t>
            </a:r>
            <a:endParaRPr lang="en-US" sz="1800" dirty="0"/>
          </a:p>
        </p:txBody>
      </p:sp>
      <p:sp>
        <p:nvSpPr>
          <p:cNvPr id="12" name="Shape 10"/>
          <p:cNvSpPr/>
          <p:nvPr/>
        </p:nvSpPr>
        <p:spPr>
          <a:xfrm>
            <a:off x="365760" y="2834640"/>
            <a:ext cx="1508760" cy="384048"/>
          </a:xfrm>
          <a:prstGeom prst="roundRect">
            <a:avLst>
              <a:gd name="adj" fmla="val 35714"/>
            </a:avLst>
          </a:prstGeom>
          <a:solidFill>
            <a:srgbClr val="06B6D4">
              <a:alpha val="80000"/>
            </a:srgbClr>
          </a:solidFill>
          <a:ln w="12700">
            <a:solidFill>
              <a:srgbClr val="06B6D4"/>
            </a:solidFill>
            <a:prstDash val="solid"/>
          </a:ln>
        </p:spPr>
      </p:sp>
      <p:sp>
        <p:nvSpPr>
          <p:cNvPr id="13" name="Text 11"/>
          <p:cNvSpPr/>
          <p:nvPr/>
        </p:nvSpPr>
        <p:spPr>
          <a:xfrm>
            <a:off x="365760" y="2834640"/>
            <a:ext cx="1508760" cy="384048"/>
          </a:xfrm>
          <a:prstGeom prst="rect">
            <a:avLst/>
          </a:prstGeom>
          <a:noFill/>
          <a:ln/>
        </p:spPr>
        <p:txBody>
          <a:bodyPr wrap="square" lIns="0" tIns="0" rIns="0" bIns="0" rtlCol="0" anchor="ctr"/>
          <a:lstStyle/>
          <a:p>
            <a:pPr algn="ctr" indent="0" marL="0">
              <a:buNone/>
            </a:pPr>
            <a:r>
              <a:rPr lang="en-US" sz="1300" b="1" dirty="0">
                <a:solidFill>
                  <a:srgbClr val="FFFFFF"/>
                </a:solidFill>
              </a:rPr>
              <a:t>Bridge</a:t>
            </a:r>
            <a:endParaRPr lang="en-US" sz="1300" dirty="0"/>
          </a:p>
        </p:txBody>
      </p:sp>
      <p:sp>
        <p:nvSpPr>
          <p:cNvPr id="14" name="Shape 12"/>
          <p:cNvSpPr/>
          <p:nvPr/>
        </p:nvSpPr>
        <p:spPr>
          <a:xfrm>
            <a:off x="2103120" y="2834640"/>
            <a:ext cx="1508760" cy="384048"/>
          </a:xfrm>
          <a:prstGeom prst="roundRect">
            <a:avLst>
              <a:gd name="adj" fmla="val 35714"/>
            </a:avLst>
          </a:prstGeom>
          <a:solidFill>
            <a:srgbClr val="F97316">
              <a:alpha val="80000"/>
            </a:srgbClr>
          </a:solidFill>
          <a:ln w="12700">
            <a:solidFill>
              <a:srgbClr val="F97316"/>
            </a:solidFill>
            <a:prstDash val="solid"/>
          </a:ln>
        </p:spPr>
      </p:sp>
      <p:sp>
        <p:nvSpPr>
          <p:cNvPr id="15" name="Text 13"/>
          <p:cNvSpPr/>
          <p:nvPr/>
        </p:nvSpPr>
        <p:spPr>
          <a:xfrm>
            <a:off x="2103120" y="2834640"/>
            <a:ext cx="1508760" cy="384048"/>
          </a:xfrm>
          <a:prstGeom prst="rect">
            <a:avLst/>
          </a:prstGeom>
          <a:noFill/>
          <a:ln/>
        </p:spPr>
        <p:txBody>
          <a:bodyPr wrap="square" lIns="0" tIns="0" rIns="0" bIns="0" rtlCol="0" anchor="ctr"/>
          <a:lstStyle/>
          <a:p>
            <a:pPr algn="ctr" indent="0" marL="0">
              <a:buNone/>
            </a:pPr>
            <a:r>
              <a:rPr lang="en-US" sz="1300" b="1" dirty="0">
                <a:solidFill>
                  <a:srgbClr val="FFFFFF"/>
                </a:solidFill>
              </a:rPr>
              <a:t>Host</a:t>
            </a:r>
            <a:endParaRPr lang="en-US" sz="1300" dirty="0"/>
          </a:p>
        </p:txBody>
      </p:sp>
      <p:sp>
        <p:nvSpPr>
          <p:cNvPr id="16" name="Shape 14"/>
          <p:cNvSpPr/>
          <p:nvPr/>
        </p:nvSpPr>
        <p:spPr>
          <a:xfrm>
            <a:off x="3840480" y="2834640"/>
            <a:ext cx="1508760" cy="384048"/>
          </a:xfrm>
          <a:prstGeom prst="roundRect">
            <a:avLst>
              <a:gd name="adj" fmla="val 35714"/>
            </a:avLst>
          </a:prstGeom>
          <a:solidFill>
            <a:srgbClr val="EF4444">
              <a:alpha val="80000"/>
            </a:srgbClr>
          </a:solidFill>
          <a:ln w="12700">
            <a:solidFill>
              <a:srgbClr val="EF4444"/>
            </a:solidFill>
            <a:prstDash val="solid"/>
          </a:ln>
        </p:spPr>
      </p:sp>
      <p:sp>
        <p:nvSpPr>
          <p:cNvPr id="17" name="Text 15"/>
          <p:cNvSpPr/>
          <p:nvPr/>
        </p:nvSpPr>
        <p:spPr>
          <a:xfrm>
            <a:off x="3840480" y="2834640"/>
            <a:ext cx="1508760" cy="384048"/>
          </a:xfrm>
          <a:prstGeom prst="rect">
            <a:avLst/>
          </a:prstGeom>
          <a:noFill/>
          <a:ln/>
        </p:spPr>
        <p:txBody>
          <a:bodyPr wrap="square" lIns="0" tIns="0" rIns="0" bIns="0" rtlCol="0" anchor="ctr"/>
          <a:lstStyle/>
          <a:p>
            <a:pPr algn="ctr" indent="0" marL="0">
              <a:buNone/>
            </a:pPr>
            <a:r>
              <a:rPr lang="en-US" sz="1300" b="1" dirty="0">
                <a:solidFill>
                  <a:srgbClr val="FFFFFF"/>
                </a:solidFill>
              </a:rPr>
              <a:t>None</a:t>
            </a:r>
            <a:endParaRPr lang="en-US" sz="1300" dirty="0"/>
          </a:p>
        </p:txBody>
      </p:sp>
      <p:sp>
        <p:nvSpPr>
          <p:cNvPr id="18" name="Shape 16"/>
          <p:cNvSpPr/>
          <p:nvPr/>
        </p:nvSpPr>
        <p:spPr>
          <a:xfrm>
            <a:off x="5577840" y="2834640"/>
            <a:ext cx="1508760" cy="384048"/>
          </a:xfrm>
          <a:prstGeom prst="roundRect">
            <a:avLst>
              <a:gd name="adj" fmla="val 35714"/>
            </a:avLst>
          </a:prstGeom>
          <a:solidFill>
            <a:srgbClr val="8B5CF6">
              <a:alpha val="80000"/>
            </a:srgbClr>
          </a:solidFill>
          <a:ln w="12700">
            <a:solidFill>
              <a:srgbClr val="8B5CF6"/>
            </a:solidFill>
            <a:prstDash val="solid"/>
          </a:ln>
        </p:spPr>
      </p:sp>
      <p:sp>
        <p:nvSpPr>
          <p:cNvPr id="19" name="Text 17"/>
          <p:cNvSpPr/>
          <p:nvPr/>
        </p:nvSpPr>
        <p:spPr>
          <a:xfrm>
            <a:off x="5577840" y="2834640"/>
            <a:ext cx="1508760" cy="384048"/>
          </a:xfrm>
          <a:prstGeom prst="rect">
            <a:avLst/>
          </a:prstGeom>
          <a:noFill/>
          <a:ln/>
        </p:spPr>
        <p:txBody>
          <a:bodyPr wrap="square" lIns="0" tIns="0" rIns="0" bIns="0" rtlCol="0" anchor="ctr"/>
          <a:lstStyle/>
          <a:p>
            <a:pPr algn="ctr" indent="0" marL="0">
              <a:buNone/>
            </a:pPr>
            <a:r>
              <a:rPr lang="en-US" sz="1300" b="1" dirty="0">
                <a:solidFill>
                  <a:srgbClr val="FFFFFF"/>
                </a:solidFill>
              </a:rPr>
              <a:t>Macvlan</a:t>
            </a:r>
            <a:endParaRPr lang="en-US" sz="1300" dirty="0"/>
          </a:p>
        </p:txBody>
      </p:sp>
      <p:sp>
        <p:nvSpPr>
          <p:cNvPr id="20" name="Shape 18"/>
          <p:cNvSpPr/>
          <p:nvPr/>
        </p:nvSpPr>
        <p:spPr>
          <a:xfrm>
            <a:off x="7315200" y="2834640"/>
            <a:ext cx="1508760" cy="384048"/>
          </a:xfrm>
          <a:prstGeom prst="roundRect">
            <a:avLst>
              <a:gd name="adj" fmla="val 35714"/>
            </a:avLst>
          </a:prstGeom>
          <a:solidFill>
            <a:srgbClr val="22C55E">
              <a:alpha val="80000"/>
            </a:srgbClr>
          </a:solidFill>
          <a:ln w="12700">
            <a:solidFill>
              <a:srgbClr val="22C55E"/>
            </a:solidFill>
            <a:prstDash val="solid"/>
          </a:ln>
        </p:spPr>
      </p:sp>
      <p:sp>
        <p:nvSpPr>
          <p:cNvPr id="21" name="Text 19"/>
          <p:cNvSpPr/>
          <p:nvPr/>
        </p:nvSpPr>
        <p:spPr>
          <a:xfrm>
            <a:off x="7315200" y="2834640"/>
            <a:ext cx="1508760" cy="384048"/>
          </a:xfrm>
          <a:prstGeom prst="rect">
            <a:avLst/>
          </a:prstGeom>
          <a:noFill/>
          <a:ln/>
        </p:spPr>
        <p:txBody>
          <a:bodyPr wrap="square" lIns="0" tIns="0" rIns="0" bIns="0" rtlCol="0" anchor="ctr"/>
          <a:lstStyle/>
          <a:p>
            <a:pPr algn="ctr" indent="0" marL="0">
              <a:buNone/>
            </a:pPr>
            <a:r>
              <a:rPr lang="en-US" sz="1300" b="1" dirty="0">
                <a:solidFill>
                  <a:srgbClr val="FFFFFF"/>
                </a:solidFill>
              </a:rPr>
              <a:t>Overlay</a:t>
            </a:r>
            <a:endParaRPr lang="en-US" sz="1300" dirty="0"/>
          </a:p>
        </p:txBody>
      </p:sp>
      <p:sp>
        <p:nvSpPr>
          <p:cNvPr id="22" name="Text 20"/>
          <p:cNvSpPr/>
          <p:nvPr/>
        </p:nvSpPr>
        <p:spPr>
          <a:xfrm>
            <a:off x="365760" y="3474720"/>
            <a:ext cx="8229600" cy="457200"/>
          </a:xfrm>
          <a:prstGeom prst="rect">
            <a:avLst/>
          </a:prstGeom>
          <a:noFill/>
          <a:ln/>
        </p:spPr>
        <p:txBody>
          <a:bodyPr wrap="square" lIns="0" tIns="0" rIns="0" bIns="0" rtlCol="0" anchor="ctr"/>
          <a:lstStyle/>
          <a:p>
            <a:pPr indent="0" marL="0">
              <a:buNone/>
            </a:pPr>
            <a:r>
              <a:rPr lang="en-US" sz="1500" b="1" dirty="0">
                <a:solidFill>
                  <a:srgbClr val="FCD34D"/>
                </a:solidFill>
                <a:latin typeface="Calibri" pitchFamily="34" charset="0"/>
                <a:ea typeface="Calibri" pitchFamily="34" charset="-122"/>
                <a:cs typeface="Calibri" pitchFamily="34" charset="-120"/>
              </a:rPr>
              <a:t>🏢  The Apartment Complex &amp; Postal System Analogy</a:t>
            </a:r>
            <a:endParaRPr lang="en-US" sz="1500" dirty="0"/>
          </a:p>
        </p:txBody>
      </p:sp>
      <p:sp>
        <p:nvSpPr>
          <p:cNvPr id="23" name="Text 21"/>
          <p:cNvSpPr/>
          <p:nvPr/>
        </p:nvSpPr>
        <p:spPr>
          <a:xfrm>
            <a:off x="365760" y="3886200"/>
            <a:ext cx="8412480" cy="3657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Host = Building  •  Container = Apartment  •  Network = Postal System  •  IP = Address  •  Port = Door Number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Text 1"/>
          <p:cNvSpPr/>
          <p:nvPr/>
        </p:nvSpPr>
        <p:spPr>
          <a:xfrm>
            <a:off x="365760" y="91440"/>
            <a:ext cx="8229600" cy="502920"/>
          </a:xfrm>
          <a:prstGeom prst="rect">
            <a:avLst/>
          </a:prstGeom>
          <a:noFill/>
          <a:ln/>
        </p:spPr>
        <p:txBody>
          <a:bodyPr wrap="square" lIns="0" tIns="0" rIns="0" bIns="0" rtlCol="0" anchor="ctr"/>
          <a:lstStyle/>
          <a:p>
            <a:pPr indent="0" marL="0">
              <a:buNone/>
            </a:pPr>
            <a:r>
              <a:rPr lang="en-US" sz="2200" b="1" spc="400" kern="0" dirty="0">
                <a:solidFill>
                  <a:srgbClr val="06B6D4"/>
                </a:solidFill>
                <a:latin typeface="Arial Black" pitchFamily="34" charset="0"/>
                <a:ea typeface="Arial Black" pitchFamily="34" charset="-122"/>
                <a:cs typeface="Arial Black" pitchFamily="34" charset="-120"/>
              </a:rPr>
              <a:t>THE PROBLEM</a:t>
            </a:r>
            <a:endParaRPr lang="en-US" sz="2200" dirty="0"/>
          </a:p>
        </p:txBody>
      </p:sp>
      <p:sp>
        <p:nvSpPr>
          <p:cNvPr id="4" name="Shape 2"/>
          <p:cNvSpPr/>
          <p:nvPr/>
        </p:nvSpPr>
        <p:spPr>
          <a:xfrm>
            <a:off x="274320" y="822960"/>
            <a:ext cx="8595360" cy="1280160"/>
          </a:xfrm>
          <a:prstGeom prst="rect">
            <a:avLst/>
          </a:prstGeom>
          <a:solidFill>
            <a:srgbClr val="132337"/>
          </a:solidFill>
          <a:ln w="25400">
            <a:solidFill>
              <a:srgbClr val="F97316"/>
            </a:solidFill>
            <a:prstDash val="solid"/>
          </a:ln>
          <a:effectLst>
            <a:outerShdw sx="100000" sy="100000" kx="0" ky="0" algn="bl" rotWithShape="0" blurRad="101600" dist="38100" dir="8100000">
              <a:srgbClr val="000000">
                <a:alpha val="30000"/>
              </a:srgbClr>
            </a:outerShdw>
          </a:effectLst>
        </p:spPr>
      </p:sp>
      <p:sp>
        <p:nvSpPr>
          <p:cNvPr id="5" name="Text 3"/>
          <p:cNvSpPr/>
          <p:nvPr/>
        </p:nvSpPr>
        <p:spPr>
          <a:xfrm>
            <a:off x="457200" y="868680"/>
            <a:ext cx="8229600" cy="347472"/>
          </a:xfrm>
          <a:prstGeom prst="rect">
            <a:avLst/>
          </a:prstGeom>
          <a:noFill/>
          <a:ln/>
        </p:spPr>
        <p:txBody>
          <a:bodyPr wrap="square" lIns="0" tIns="0" rIns="0" bIns="0" rtlCol="0" anchor="ctr"/>
          <a:lstStyle/>
          <a:p>
            <a:pPr indent="0" marL="0">
              <a:buNone/>
            </a:pPr>
            <a:r>
              <a:rPr lang="en-US" sz="1600" b="1" dirty="0">
                <a:solidFill>
                  <a:srgbClr val="F97316"/>
                </a:solidFill>
                <a:latin typeface="Calibri" pitchFamily="34" charset="0"/>
                <a:ea typeface="Calibri" pitchFamily="34" charset="-122"/>
                <a:cs typeface="Calibri" pitchFamily="34" charset="-120"/>
              </a:rPr>
              <a:t>🚨  Real-World Scenario</a:t>
            </a:r>
            <a:endParaRPr lang="en-US" sz="1600" dirty="0"/>
          </a:p>
        </p:txBody>
      </p:sp>
      <p:sp>
        <p:nvSpPr>
          <p:cNvPr id="6" name="Text 4"/>
          <p:cNvSpPr/>
          <p:nvPr/>
        </p:nvSpPr>
        <p:spPr>
          <a:xfrm>
            <a:off x="457200" y="1234440"/>
            <a:ext cx="8229600" cy="7772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You're deploying an e-commerce app: a web frontend, an API backend, and a PostgreSQL database — all as Docker containers on the same host. How do they talk to each other? How does the outside world reach only your frontend? How do you keep the database hidden from the internet?</a:t>
            </a:r>
            <a:endParaRPr lang="en-US" sz="1300" dirty="0"/>
          </a:p>
        </p:txBody>
      </p:sp>
      <p:sp>
        <p:nvSpPr>
          <p:cNvPr id="7" name="Shape 5"/>
          <p:cNvSpPr/>
          <p:nvPr/>
        </p:nvSpPr>
        <p:spPr>
          <a:xfrm>
            <a:off x="274320" y="2286000"/>
            <a:ext cx="2743200" cy="1325880"/>
          </a:xfrm>
          <a:prstGeom prst="rect">
            <a:avLst/>
          </a:prstGeom>
          <a:solidFill>
            <a:srgbClr val="132337"/>
          </a:solidFill>
          <a:ln w="25400">
            <a:solidFill>
              <a:srgbClr val="06B6D4"/>
            </a:solidFill>
            <a:prstDash val="solid"/>
          </a:ln>
        </p:spPr>
      </p:sp>
      <p:sp>
        <p:nvSpPr>
          <p:cNvPr id="8" name="Text 6"/>
          <p:cNvSpPr/>
          <p:nvPr/>
        </p:nvSpPr>
        <p:spPr>
          <a:xfrm>
            <a:off x="365760" y="2359152"/>
            <a:ext cx="2560320" cy="411480"/>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  Containers need to talk</a:t>
            </a:r>
            <a:endParaRPr lang="en-US" sz="1400" dirty="0"/>
          </a:p>
        </p:txBody>
      </p:sp>
      <p:sp>
        <p:nvSpPr>
          <p:cNvPr id="9" name="Text 7"/>
          <p:cNvSpPr/>
          <p:nvPr/>
        </p:nvSpPr>
        <p:spPr>
          <a:xfrm>
            <a:off x="365760" y="2788920"/>
            <a:ext cx="2560320" cy="5943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Web ↔ API ↔ DB internally</a:t>
            </a:r>
            <a:endParaRPr lang="en-US" sz="1200" dirty="0"/>
          </a:p>
        </p:txBody>
      </p:sp>
      <p:sp>
        <p:nvSpPr>
          <p:cNvPr id="10" name="Shape 8"/>
          <p:cNvSpPr/>
          <p:nvPr/>
        </p:nvSpPr>
        <p:spPr>
          <a:xfrm>
            <a:off x="3246120" y="2286000"/>
            <a:ext cx="2743200" cy="1325880"/>
          </a:xfrm>
          <a:prstGeom prst="rect">
            <a:avLst/>
          </a:prstGeom>
          <a:solidFill>
            <a:srgbClr val="132337"/>
          </a:solidFill>
          <a:ln w="25400">
            <a:solidFill>
              <a:srgbClr val="22C55E"/>
            </a:solidFill>
            <a:prstDash val="solid"/>
          </a:ln>
        </p:spPr>
      </p:sp>
      <p:sp>
        <p:nvSpPr>
          <p:cNvPr id="11" name="Text 9"/>
          <p:cNvSpPr/>
          <p:nvPr/>
        </p:nvSpPr>
        <p:spPr>
          <a:xfrm>
            <a:off x="3337560" y="2359152"/>
            <a:ext cx="2560320" cy="411480"/>
          </a:xfrm>
          <a:prstGeom prst="rect">
            <a:avLst/>
          </a:prstGeom>
          <a:noFill/>
          <a:ln/>
        </p:spPr>
        <p:txBody>
          <a:bodyPr wrap="square" lIns="0" tIns="0" rIns="0" bIns="0" rtlCol="0" anchor="ctr"/>
          <a:lstStyle/>
          <a:p>
            <a:pPr indent="0" marL="0">
              <a:buNone/>
            </a:pPr>
            <a:r>
              <a:rPr lang="en-US" sz="1400" b="1" dirty="0">
                <a:solidFill>
                  <a:srgbClr val="22C55E"/>
                </a:solidFill>
                <a:latin typeface="Calibri" pitchFamily="34" charset="0"/>
                <a:ea typeface="Calibri" pitchFamily="34" charset="-122"/>
                <a:cs typeface="Calibri" pitchFamily="34" charset="-120"/>
              </a:rPr>
              <a:t>🌐  Only frontend is public</a:t>
            </a:r>
            <a:endParaRPr lang="en-US" sz="1400" dirty="0"/>
          </a:p>
        </p:txBody>
      </p:sp>
      <p:sp>
        <p:nvSpPr>
          <p:cNvPr id="12" name="Text 10"/>
          <p:cNvSpPr/>
          <p:nvPr/>
        </p:nvSpPr>
        <p:spPr>
          <a:xfrm>
            <a:off x="3337560" y="2788920"/>
            <a:ext cx="2560320" cy="5943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Port 80/443 exposed to internet</a:t>
            </a:r>
            <a:endParaRPr lang="en-US" sz="1200" dirty="0"/>
          </a:p>
        </p:txBody>
      </p:sp>
      <p:sp>
        <p:nvSpPr>
          <p:cNvPr id="13" name="Shape 11"/>
          <p:cNvSpPr/>
          <p:nvPr/>
        </p:nvSpPr>
        <p:spPr>
          <a:xfrm>
            <a:off x="6217920" y="2286000"/>
            <a:ext cx="2743200" cy="1325880"/>
          </a:xfrm>
          <a:prstGeom prst="rect">
            <a:avLst/>
          </a:prstGeom>
          <a:solidFill>
            <a:srgbClr val="132337"/>
          </a:solidFill>
          <a:ln w="25400">
            <a:solidFill>
              <a:srgbClr val="EF4444"/>
            </a:solidFill>
            <a:prstDash val="solid"/>
          </a:ln>
        </p:spPr>
      </p:sp>
      <p:sp>
        <p:nvSpPr>
          <p:cNvPr id="14" name="Text 12"/>
          <p:cNvSpPr/>
          <p:nvPr/>
        </p:nvSpPr>
        <p:spPr>
          <a:xfrm>
            <a:off x="6309360" y="2359152"/>
            <a:ext cx="2560320" cy="41148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  DB must stay private</a:t>
            </a:r>
            <a:endParaRPr lang="en-US" sz="1400" dirty="0"/>
          </a:p>
        </p:txBody>
      </p:sp>
      <p:sp>
        <p:nvSpPr>
          <p:cNvPr id="15" name="Text 13"/>
          <p:cNvSpPr/>
          <p:nvPr/>
        </p:nvSpPr>
        <p:spPr>
          <a:xfrm>
            <a:off x="6309360" y="2788920"/>
            <a:ext cx="2560320" cy="5943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No internet access ever</a:t>
            </a:r>
            <a:endParaRPr lang="en-US" sz="1200" dirty="0"/>
          </a:p>
        </p:txBody>
      </p:sp>
      <p:sp>
        <p:nvSpPr>
          <p:cNvPr id="16" name="Shape 14"/>
          <p:cNvSpPr/>
          <p:nvPr/>
        </p:nvSpPr>
        <p:spPr>
          <a:xfrm>
            <a:off x="274320" y="3749040"/>
            <a:ext cx="8595360" cy="640080"/>
          </a:xfrm>
          <a:prstGeom prst="rect">
            <a:avLst/>
          </a:prstGeom>
          <a:solidFill>
            <a:srgbClr val="0F2942"/>
          </a:solidFill>
          <a:ln w="12700">
            <a:solidFill>
              <a:srgbClr val="06B6D4"/>
            </a:solidFill>
            <a:prstDash val="solid"/>
          </a:ln>
        </p:spPr>
      </p:sp>
      <p:sp>
        <p:nvSpPr>
          <p:cNvPr id="17" name="Text 15"/>
          <p:cNvSpPr/>
          <p:nvPr/>
        </p:nvSpPr>
        <p:spPr>
          <a:xfrm>
            <a:off x="457200" y="3822192"/>
            <a:ext cx="8229600" cy="475488"/>
          </a:xfrm>
          <a:prstGeom prst="rect">
            <a:avLst/>
          </a:prstGeom>
          <a:noFill/>
          <a:ln/>
        </p:spPr>
        <p:txBody>
          <a:bodyPr wrap="square" lIns="0" tIns="0" rIns="0" bIns="0"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  Solution: Docker's 5 Network Types give you fine-grained control over container communication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Text 1"/>
          <p:cNvSpPr/>
          <p:nvPr/>
        </p:nvSpPr>
        <p:spPr>
          <a:xfrm>
            <a:off x="365760" y="91440"/>
            <a:ext cx="8229600" cy="502920"/>
          </a:xfrm>
          <a:prstGeom prst="rect">
            <a:avLst/>
          </a:prstGeom>
          <a:noFill/>
          <a:ln/>
        </p:spPr>
        <p:txBody>
          <a:bodyPr wrap="square" lIns="0" tIns="0" rIns="0" bIns="0" rtlCol="0" anchor="ctr"/>
          <a:lstStyle/>
          <a:p>
            <a:pPr indent="0" marL="0">
              <a:buNone/>
            </a:pPr>
            <a:r>
              <a:rPr lang="en-US" sz="2200" b="1" spc="400" kern="0" dirty="0">
                <a:solidFill>
                  <a:srgbClr val="06B6D4"/>
                </a:solidFill>
                <a:latin typeface="Arial Black" pitchFamily="34" charset="0"/>
                <a:ea typeface="Arial Black" pitchFamily="34" charset="-122"/>
                <a:cs typeface="Arial Black" pitchFamily="34" charset="-120"/>
              </a:rPr>
              <a:t>5 DOCKER NETWORK TYPES</a:t>
            </a:r>
            <a:endParaRPr lang="en-US" sz="2200" dirty="0"/>
          </a:p>
        </p:txBody>
      </p:sp>
      <p:sp>
        <p:nvSpPr>
          <p:cNvPr id="4" name="Shape 2"/>
          <p:cNvSpPr/>
          <p:nvPr/>
        </p:nvSpPr>
        <p:spPr>
          <a:xfrm>
            <a:off x="228600" y="822960"/>
            <a:ext cx="2743200" cy="1600200"/>
          </a:xfrm>
          <a:prstGeom prst="rect">
            <a:avLst/>
          </a:prstGeom>
          <a:solidFill>
            <a:srgbClr val="132337"/>
          </a:solidFill>
          <a:ln w="25400">
            <a:solidFill>
              <a:srgbClr val="06B6D4"/>
            </a:solidFill>
            <a:prstDash val="solid"/>
          </a:ln>
          <a:effectLst>
            <a:outerShdw sx="100000" sy="100000" kx="0" ky="0" algn="bl" rotWithShape="0" blurRad="76200" dist="25400" dir="8100000">
              <a:srgbClr val="000000">
                <a:alpha val="30000"/>
              </a:srgbClr>
            </a:outerShdw>
          </a:effectLst>
        </p:spPr>
      </p:sp>
      <p:sp>
        <p:nvSpPr>
          <p:cNvPr id="5" name="Shape 3"/>
          <p:cNvSpPr/>
          <p:nvPr/>
        </p:nvSpPr>
        <p:spPr>
          <a:xfrm>
            <a:off x="228600" y="822960"/>
            <a:ext cx="2743200" cy="54864"/>
          </a:xfrm>
          <a:prstGeom prst="rect">
            <a:avLst/>
          </a:prstGeom>
          <a:solidFill>
            <a:srgbClr val="06B6D4"/>
          </a:solidFill>
          <a:ln w="12700">
            <a:solidFill>
              <a:srgbClr val="06B6D4"/>
            </a:solidFill>
            <a:prstDash val="solid"/>
          </a:ln>
        </p:spPr>
      </p:sp>
      <p:sp>
        <p:nvSpPr>
          <p:cNvPr id="6" name="Text 4"/>
          <p:cNvSpPr/>
          <p:nvPr/>
        </p:nvSpPr>
        <p:spPr>
          <a:xfrm>
            <a:off x="320040" y="914400"/>
            <a:ext cx="2560320" cy="365760"/>
          </a:xfrm>
          <a:prstGeom prst="rect">
            <a:avLst/>
          </a:prstGeom>
          <a:noFill/>
          <a:ln/>
        </p:spPr>
        <p:txBody>
          <a:bodyPr wrap="square" lIns="0" tIns="0" rIns="0" bIns="0" rtlCol="0" anchor="ctr"/>
          <a:lstStyle/>
          <a:p>
            <a:pPr indent="0" marL="0">
              <a:buNone/>
            </a:pPr>
            <a:r>
              <a:rPr lang="en-US" sz="1600" b="1" dirty="0">
                <a:solidFill>
                  <a:srgbClr val="06B6D4"/>
                </a:solidFill>
                <a:latin typeface="Calibri" pitchFamily="34" charset="0"/>
                <a:ea typeface="Calibri" pitchFamily="34" charset="-122"/>
                <a:cs typeface="Calibri" pitchFamily="34" charset="-120"/>
              </a:rPr>
              <a:t>🏢  Bridge</a:t>
            </a:r>
            <a:endParaRPr lang="en-US" sz="1600" dirty="0"/>
          </a:p>
        </p:txBody>
      </p:sp>
      <p:sp>
        <p:nvSpPr>
          <p:cNvPr id="7" name="Text 5"/>
          <p:cNvSpPr/>
          <p:nvPr/>
        </p:nvSpPr>
        <p:spPr>
          <a:xfrm>
            <a:off x="320040" y="1298448"/>
            <a:ext cx="2560320" cy="6858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Private internal network with NAT. Containers talk via IPs/names. Port mapping for external access.</a:t>
            </a:r>
            <a:endParaRPr lang="en-US" sz="1050" dirty="0"/>
          </a:p>
        </p:txBody>
      </p:sp>
      <p:sp>
        <p:nvSpPr>
          <p:cNvPr id="8" name="Shape 6"/>
          <p:cNvSpPr/>
          <p:nvPr/>
        </p:nvSpPr>
        <p:spPr>
          <a:xfrm>
            <a:off x="320040" y="2011680"/>
            <a:ext cx="2560320" cy="274320"/>
          </a:xfrm>
          <a:prstGeom prst="rect">
            <a:avLst/>
          </a:prstGeom>
          <a:solidFill>
            <a:srgbClr val="06B6D4">
              <a:alpha val="20000"/>
            </a:srgbClr>
          </a:solidFill>
          <a:ln w="12700">
            <a:solidFill>
              <a:srgbClr val="06B6D4">
                <a:alpha val="50000"/>
              </a:srgbClr>
            </a:solidFill>
            <a:prstDash val="solid"/>
          </a:ln>
        </p:spPr>
      </p:sp>
      <p:sp>
        <p:nvSpPr>
          <p:cNvPr id="9" name="Text 7"/>
          <p:cNvSpPr/>
          <p:nvPr/>
        </p:nvSpPr>
        <p:spPr>
          <a:xfrm>
            <a:off x="338328" y="2011680"/>
            <a:ext cx="2523744" cy="274320"/>
          </a:xfrm>
          <a:prstGeom prst="rect">
            <a:avLst/>
          </a:prstGeom>
          <a:noFill/>
          <a:ln/>
        </p:spPr>
        <p:txBody>
          <a:bodyPr wrap="square" lIns="0" tIns="0" rIns="0" bIns="0" rtlCol="0" anchor="ctr"/>
          <a:lstStyle/>
          <a:p>
            <a:pPr indent="0" marL="0">
              <a:buNone/>
            </a:pPr>
            <a:r>
              <a:rPr lang="en-US" sz="950" b="1" dirty="0">
                <a:solidFill>
                  <a:srgbClr val="06B6D4"/>
                </a:solidFill>
                <a:latin typeface="Calibri" pitchFamily="34" charset="0"/>
                <a:ea typeface="Calibri" pitchFamily="34" charset="-122"/>
                <a:cs typeface="Calibri" pitchFamily="34" charset="-120"/>
              </a:rPr>
              <a:t>Best for: Default — single host apps</a:t>
            </a:r>
            <a:endParaRPr lang="en-US" sz="950" dirty="0"/>
          </a:p>
        </p:txBody>
      </p:sp>
      <p:sp>
        <p:nvSpPr>
          <p:cNvPr id="10" name="Shape 8"/>
          <p:cNvSpPr/>
          <p:nvPr/>
        </p:nvSpPr>
        <p:spPr>
          <a:xfrm>
            <a:off x="3154680" y="822960"/>
            <a:ext cx="2743200" cy="1600200"/>
          </a:xfrm>
          <a:prstGeom prst="rect">
            <a:avLst/>
          </a:prstGeom>
          <a:solidFill>
            <a:srgbClr val="132337"/>
          </a:solidFill>
          <a:ln w="25400">
            <a:solidFill>
              <a:srgbClr val="F97316"/>
            </a:solidFill>
            <a:prstDash val="solid"/>
          </a:ln>
          <a:effectLst>
            <a:outerShdw sx="100000" sy="100000" kx="0" ky="0" algn="bl" rotWithShape="0" blurRad="76200" dist="25400" dir="8100000">
              <a:srgbClr val="000000">
                <a:alpha val="30000"/>
              </a:srgbClr>
            </a:outerShdw>
          </a:effectLst>
        </p:spPr>
      </p:sp>
      <p:sp>
        <p:nvSpPr>
          <p:cNvPr id="11" name="Shape 9"/>
          <p:cNvSpPr/>
          <p:nvPr/>
        </p:nvSpPr>
        <p:spPr>
          <a:xfrm>
            <a:off x="3154680" y="822960"/>
            <a:ext cx="2743200" cy="54864"/>
          </a:xfrm>
          <a:prstGeom prst="rect">
            <a:avLst/>
          </a:prstGeom>
          <a:solidFill>
            <a:srgbClr val="F97316"/>
          </a:solidFill>
          <a:ln w="12700">
            <a:solidFill>
              <a:srgbClr val="F97316"/>
            </a:solidFill>
            <a:prstDash val="solid"/>
          </a:ln>
        </p:spPr>
      </p:sp>
      <p:sp>
        <p:nvSpPr>
          <p:cNvPr id="12" name="Text 10"/>
          <p:cNvSpPr/>
          <p:nvPr/>
        </p:nvSpPr>
        <p:spPr>
          <a:xfrm>
            <a:off x="3246120" y="914400"/>
            <a:ext cx="2560320" cy="365760"/>
          </a:xfrm>
          <a:prstGeom prst="rect">
            <a:avLst/>
          </a:prstGeom>
          <a:noFill/>
          <a:ln/>
        </p:spPr>
        <p:txBody>
          <a:bodyPr wrap="square" lIns="0" tIns="0" rIns="0" bIns="0" rtlCol="0" anchor="ctr"/>
          <a:lstStyle/>
          <a:p>
            <a:pPr indent="0" marL="0">
              <a:buNone/>
            </a:pPr>
            <a:r>
              <a:rPr lang="en-US" sz="1600" b="1" dirty="0">
                <a:solidFill>
                  <a:srgbClr val="F97316"/>
                </a:solidFill>
                <a:latin typeface="Calibri" pitchFamily="34" charset="0"/>
                <a:ea typeface="Calibri" pitchFamily="34" charset="-122"/>
                <a:cs typeface="Calibri" pitchFamily="34" charset="-120"/>
              </a:rPr>
              <a:t>🚪  Host</a:t>
            </a:r>
            <a:endParaRPr lang="en-US" sz="1600" dirty="0"/>
          </a:p>
        </p:txBody>
      </p:sp>
      <p:sp>
        <p:nvSpPr>
          <p:cNvPr id="13" name="Text 11"/>
          <p:cNvSpPr/>
          <p:nvPr/>
        </p:nvSpPr>
        <p:spPr>
          <a:xfrm>
            <a:off x="3246120" y="1298448"/>
            <a:ext cx="2560320" cy="6858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No isolation. Container shares the host's network stack directly. No port mapping needed.</a:t>
            </a:r>
            <a:endParaRPr lang="en-US" sz="1050" dirty="0"/>
          </a:p>
        </p:txBody>
      </p:sp>
      <p:sp>
        <p:nvSpPr>
          <p:cNvPr id="14" name="Shape 12"/>
          <p:cNvSpPr/>
          <p:nvPr/>
        </p:nvSpPr>
        <p:spPr>
          <a:xfrm>
            <a:off x="3246120" y="2011680"/>
            <a:ext cx="2560320" cy="274320"/>
          </a:xfrm>
          <a:prstGeom prst="rect">
            <a:avLst/>
          </a:prstGeom>
          <a:solidFill>
            <a:srgbClr val="F97316">
              <a:alpha val="20000"/>
            </a:srgbClr>
          </a:solidFill>
          <a:ln w="12700">
            <a:solidFill>
              <a:srgbClr val="F97316">
                <a:alpha val="50000"/>
              </a:srgbClr>
            </a:solidFill>
            <a:prstDash val="solid"/>
          </a:ln>
        </p:spPr>
      </p:sp>
      <p:sp>
        <p:nvSpPr>
          <p:cNvPr id="15" name="Text 13"/>
          <p:cNvSpPr/>
          <p:nvPr/>
        </p:nvSpPr>
        <p:spPr>
          <a:xfrm>
            <a:off x="3264408" y="2011680"/>
            <a:ext cx="2523744" cy="274320"/>
          </a:xfrm>
          <a:prstGeom prst="rect">
            <a:avLst/>
          </a:prstGeom>
          <a:noFill/>
          <a:ln/>
        </p:spPr>
        <p:txBody>
          <a:bodyPr wrap="square" lIns="0" tIns="0" rIns="0" bIns="0" rtlCol="0" anchor="ctr"/>
          <a:lstStyle/>
          <a:p>
            <a:pPr indent="0" marL="0">
              <a:buNone/>
            </a:pPr>
            <a:r>
              <a:rPr lang="en-US" sz="950" b="1" dirty="0">
                <a:solidFill>
                  <a:srgbClr val="F97316"/>
                </a:solidFill>
                <a:latin typeface="Calibri" pitchFamily="34" charset="0"/>
                <a:ea typeface="Calibri" pitchFamily="34" charset="-122"/>
                <a:cs typeface="Calibri" pitchFamily="34" charset="-120"/>
              </a:rPr>
              <a:t>Best for: Max performance, no isolation</a:t>
            </a:r>
            <a:endParaRPr lang="en-US" sz="950" dirty="0"/>
          </a:p>
        </p:txBody>
      </p:sp>
      <p:sp>
        <p:nvSpPr>
          <p:cNvPr id="16" name="Shape 14"/>
          <p:cNvSpPr/>
          <p:nvPr/>
        </p:nvSpPr>
        <p:spPr>
          <a:xfrm>
            <a:off x="6080760" y="822960"/>
            <a:ext cx="2743200" cy="1600200"/>
          </a:xfrm>
          <a:prstGeom prst="rect">
            <a:avLst/>
          </a:prstGeom>
          <a:solidFill>
            <a:srgbClr val="132337"/>
          </a:solidFill>
          <a:ln w="25400">
            <a:solidFill>
              <a:srgbClr val="EF4444"/>
            </a:solidFill>
            <a:prstDash val="solid"/>
          </a:ln>
          <a:effectLst>
            <a:outerShdw sx="100000" sy="100000" kx="0" ky="0" algn="bl" rotWithShape="0" blurRad="76200" dist="25400" dir="8100000">
              <a:srgbClr val="000000">
                <a:alpha val="30000"/>
              </a:srgbClr>
            </a:outerShdw>
          </a:effectLst>
        </p:spPr>
      </p:sp>
      <p:sp>
        <p:nvSpPr>
          <p:cNvPr id="17" name="Shape 15"/>
          <p:cNvSpPr/>
          <p:nvPr/>
        </p:nvSpPr>
        <p:spPr>
          <a:xfrm>
            <a:off x="6080760" y="822960"/>
            <a:ext cx="2743200" cy="54864"/>
          </a:xfrm>
          <a:prstGeom prst="rect">
            <a:avLst/>
          </a:prstGeom>
          <a:solidFill>
            <a:srgbClr val="EF4444"/>
          </a:solidFill>
          <a:ln w="12700">
            <a:solidFill>
              <a:srgbClr val="EF4444"/>
            </a:solidFill>
            <a:prstDash val="solid"/>
          </a:ln>
        </p:spPr>
      </p:sp>
      <p:sp>
        <p:nvSpPr>
          <p:cNvPr id="18" name="Text 16"/>
          <p:cNvSpPr/>
          <p:nvPr/>
        </p:nvSpPr>
        <p:spPr>
          <a:xfrm>
            <a:off x="6172200" y="914400"/>
            <a:ext cx="2560320" cy="365760"/>
          </a:xfrm>
          <a:prstGeom prst="rect">
            <a:avLst/>
          </a:prstGeom>
          <a:noFill/>
          <a:ln/>
        </p:spPr>
        <p:txBody>
          <a:bodyPr wrap="square" lIns="0" tIns="0" rIns="0" bIns="0" rtlCol="0" anchor="ctr"/>
          <a:lstStyle/>
          <a:p>
            <a:pPr indent="0" marL="0">
              <a:buNone/>
            </a:pPr>
            <a:r>
              <a:rPr lang="en-US" sz="1600" b="1" dirty="0">
                <a:solidFill>
                  <a:srgbClr val="EF4444"/>
                </a:solidFill>
                <a:latin typeface="Calibri" pitchFamily="34" charset="0"/>
                <a:ea typeface="Calibri" pitchFamily="34" charset="-122"/>
                <a:cs typeface="Calibri" pitchFamily="34" charset="-120"/>
              </a:rPr>
              <a:t>🔇  None</a:t>
            </a:r>
            <a:endParaRPr lang="en-US" sz="1600" dirty="0"/>
          </a:p>
        </p:txBody>
      </p:sp>
      <p:sp>
        <p:nvSpPr>
          <p:cNvPr id="19" name="Text 17"/>
          <p:cNvSpPr/>
          <p:nvPr/>
        </p:nvSpPr>
        <p:spPr>
          <a:xfrm>
            <a:off x="6172200" y="1298448"/>
            <a:ext cx="2560320" cy="6858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Complete network blackout. Only loopback (127.0.0.1). No in, no out.</a:t>
            </a:r>
            <a:endParaRPr lang="en-US" sz="1050" dirty="0"/>
          </a:p>
        </p:txBody>
      </p:sp>
      <p:sp>
        <p:nvSpPr>
          <p:cNvPr id="20" name="Shape 18"/>
          <p:cNvSpPr/>
          <p:nvPr/>
        </p:nvSpPr>
        <p:spPr>
          <a:xfrm>
            <a:off x="6172200" y="2011680"/>
            <a:ext cx="2560320" cy="274320"/>
          </a:xfrm>
          <a:prstGeom prst="rect">
            <a:avLst/>
          </a:prstGeom>
          <a:solidFill>
            <a:srgbClr val="EF4444">
              <a:alpha val="20000"/>
            </a:srgbClr>
          </a:solidFill>
          <a:ln w="12700">
            <a:solidFill>
              <a:srgbClr val="EF4444">
                <a:alpha val="50000"/>
              </a:srgbClr>
            </a:solidFill>
            <a:prstDash val="solid"/>
          </a:ln>
        </p:spPr>
      </p:sp>
      <p:sp>
        <p:nvSpPr>
          <p:cNvPr id="21" name="Text 19"/>
          <p:cNvSpPr/>
          <p:nvPr/>
        </p:nvSpPr>
        <p:spPr>
          <a:xfrm>
            <a:off x="6190488" y="2011680"/>
            <a:ext cx="2523744" cy="274320"/>
          </a:xfrm>
          <a:prstGeom prst="rect">
            <a:avLst/>
          </a:prstGeom>
          <a:noFill/>
          <a:ln/>
        </p:spPr>
        <p:txBody>
          <a:bodyPr wrap="square" lIns="0" tIns="0" rIns="0" bIns="0" rtlCol="0" anchor="ctr"/>
          <a:lstStyle/>
          <a:p>
            <a:pPr indent="0" marL="0">
              <a:buNone/>
            </a:pPr>
            <a:r>
              <a:rPr lang="en-US" sz="950" b="1" dirty="0">
                <a:solidFill>
                  <a:srgbClr val="EF4444"/>
                </a:solidFill>
                <a:latin typeface="Calibri" pitchFamily="34" charset="0"/>
                <a:ea typeface="Calibri" pitchFamily="34" charset="-122"/>
                <a:cs typeface="Calibri" pitchFamily="34" charset="-120"/>
              </a:rPr>
              <a:t>Best for: Air-gapped security jobs</a:t>
            </a:r>
            <a:endParaRPr lang="en-US" sz="950" dirty="0"/>
          </a:p>
        </p:txBody>
      </p:sp>
      <p:sp>
        <p:nvSpPr>
          <p:cNvPr id="22" name="Shape 20"/>
          <p:cNvSpPr/>
          <p:nvPr/>
        </p:nvSpPr>
        <p:spPr>
          <a:xfrm>
            <a:off x="228600" y="2651760"/>
            <a:ext cx="2743200" cy="1600200"/>
          </a:xfrm>
          <a:prstGeom prst="rect">
            <a:avLst/>
          </a:prstGeom>
          <a:solidFill>
            <a:srgbClr val="132337"/>
          </a:solidFill>
          <a:ln w="25400">
            <a:solidFill>
              <a:srgbClr val="8B5CF6"/>
            </a:solidFill>
            <a:prstDash val="solid"/>
          </a:ln>
          <a:effectLst>
            <a:outerShdw sx="100000" sy="100000" kx="0" ky="0" algn="bl" rotWithShape="0" blurRad="76200" dist="25400" dir="8100000">
              <a:srgbClr val="000000">
                <a:alpha val="30000"/>
              </a:srgbClr>
            </a:outerShdw>
          </a:effectLst>
        </p:spPr>
      </p:sp>
      <p:sp>
        <p:nvSpPr>
          <p:cNvPr id="23" name="Shape 21"/>
          <p:cNvSpPr/>
          <p:nvPr/>
        </p:nvSpPr>
        <p:spPr>
          <a:xfrm>
            <a:off x="228600" y="2651760"/>
            <a:ext cx="2743200" cy="54864"/>
          </a:xfrm>
          <a:prstGeom prst="rect">
            <a:avLst/>
          </a:prstGeom>
          <a:solidFill>
            <a:srgbClr val="8B5CF6"/>
          </a:solidFill>
          <a:ln w="12700">
            <a:solidFill>
              <a:srgbClr val="8B5CF6"/>
            </a:solidFill>
            <a:prstDash val="solid"/>
          </a:ln>
        </p:spPr>
      </p:sp>
      <p:sp>
        <p:nvSpPr>
          <p:cNvPr id="24" name="Text 22"/>
          <p:cNvSpPr/>
          <p:nvPr/>
        </p:nvSpPr>
        <p:spPr>
          <a:xfrm>
            <a:off x="320040" y="2743200"/>
            <a:ext cx="2560320" cy="365760"/>
          </a:xfrm>
          <a:prstGeom prst="rect">
            <a:avLst/>
          </a:prstGeom>
          <a:noFill/>
          <a:ln/>
        </p:spPr>
        <p:txBody>
          <a:bodyPr wrap="square" lIns="0" tIns="0" rIns="0" bIns="0" rtlCol="0" anchor="ctr"/>
          <a:lstStyle/>
          <a:p>
            <a:pPr indent="0" marL="0">
              <a:buNone/>
            </a:pPr>
            <a:r>
              <a:rPr lang="en-US" sz="1600" b="1" dirty="0">
                <a:solidFill>
                  <a:srgbClr val="8B5CF6"/>
                </a:solidFill>
                <a:latin typeface="Calibri" pitchFamily="34" charset="0"/>
                <a:ea typeface="Calibri" pitchFamily="34" charset="-122"/>
                <a:cs typeface="Calibri" pitchFamily="34" charset="-120"/>
              </a:rPr>
              <a:t>🏠  Macvlan</a:t>
            </a:r>
            <a:endParaRPr lang="en-US" sz="1600" dirty="0"/>
          </a:p>
        </p:txBody>
      </p:sp>
      <p:sp>
        <p:nvSpPr>
          <p:cNvPr id="25" name="Text 23"/>
          <p:cNvSpPr/>
          <p:nvPr/>
        </p:nvSpPr>
        <p:spPr>
          <a:xfrm>
            <a:off x="320040" y="3127248"/>
            <a:ext cx="2560320" cy="6858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Container gets a real MAC address on the physical LAN. Router sees it as a physical device.</a:t>
            </a:r>
            <a:endParaRPr lang="en-US" sz="1050" dirty="0"/>
          </a:p>
        </p:txBody>
      </p:sp>
      <p:sp>
        <p:nvSpPr>
          <p:cNvPr id="26" name="Shape 24"/>
          <p:cNvSpPr/>
          <p:nvPr/>
        </p:nvSpPr>
        <p:spPr>
          <a:xfrm>
            <a:off x="320040" y="3840480"/>
            <a:ext cx="2560320" cy="274320"/>
          </a:xfrm>
          <a:prstGeom prst="rect">
            <a:avLst/>
          </a:prstGeom>
          <a:solidFill>
            <a:srgbClr val="8B5CF6">
              <a:alpha val="20000"/>
            </a:srgbClr>
          </a:solidFill>
          <a:ln w="12700">
            <a:solidFill>
              <a:srgbClr val="8B5CF6">
                <a:alpha val="50000"/>
              </a:srgbClr>
            </a:solidFill>
            <a:prstDash val="solid"/>
          </a:ln>
        </p:spPr>
      </p:sp>
      <p:sp>
        <p:nvSpPr>
          <p:cNvPr id="27" name="Text 25"/>
          <p:cNvSpPr/>
          <p:nvPr/>
        </p:nvSpPr>
        <p:spPr>
          <a:xfrm>
            <a:off x="338328" y="3840480"/>
            <a:ext cx="2523744" cy="274320"/>
          </a:xfrm>
          <a:prstGeom prst="rect">
            <a:avLst/>
          </a:prstGeom>
          <a:noFill/>
          <a:ln/>
        </p:spPr>
        <p:txBody>
          <a:bodyPr wrap="square" lIns="0" tIns="0" rIns="0" bIns="0" rtlCol="0" anchor="ctr"/>
          <a:lstStyle/>
          <a:p>
            <a:pPr indent="0" marL="0">
              <a:buNone/>
            </a:pPr>
            <a:r>
              <a:rPr lang="en-US" sz="950" b="1" dirty="0">
                <a:solidFill>
                  <a:srgbClr val="8B5CF6"/>
                </a:solidFill>
                <a:latin typeface="Calibri" pitchFamily="34" charset="0"/>
                <a:ea typeface="Calibri" pitchFamily="34" charset="-122"/>
                <a:cs typeface="Calibri" pitchFamily="34" charset="-120"/>
              </a:rPr>
              <a:t>Best for: Legacy apps needing real LAN IPs</a:t>
            </a:r>
            <a:endParaRPr lang="en-US" sz="950" dirty="0"/>
          </a:p>
        </p:txBody>
      </p:sp>
      <p:sp>
        <p:nvSpPr>
          <p:cNvPr id="28" name="Shape 26"/>
          <p:cNvSpPr/>
          <p:nvPr/>
        </p:nvSpPr>
        <p:spPr>
          <a:xfrm>
            <a:off x="3154680" y="2651760"/>
            <a:ext cx="2743200" cy="1600200"/>
          </a:xfrm>
          <a:prstGeom prst="rect">
            <a:avLst/>
          </a:prstGeom>
          <a:solidFill>
            <a:srgbClr val="132337"/>
          </a:solidFill>
          <a:ln w="25400">
            <a:solidFill>
              <a:srgbClr val="22C55E"/>
            </a:solidFill>
            <a:prstDash val="solid"/>
          </a:ln>
          <a:effectLst>
            <a:outerShdw sx="100000" sy="100000" kx="0" ky="0" algn="bl" rotWithShape="0" blurRad="76200" dist="25400" dir="8100000">
              <a:srgbClr val="000000">
                <a:alpha val="30000"/>
              </a:srgbClr>
            </a:outerShdw>
          </a:effectLst>
        </p:spPr>
      </p:sp>
      <p:sp>
        <p:nvSpPr>
          <p:cNvPr id="29" name="Shape 27"/>
          <p:cNvSpPr/>
          <p:nvPr/>
        </p:nvSpPr>
        <p:spPr>
          <a:xfrm>
            <a:off x="3154680" y="2651760"/>
            <a:ext cx="2743200" cy="54864"/>
          </a:xfrm>
          <a:prstGeom prst="rect">
            <a:avLst/>
          </a:prstGeom>
          <a:solidFill>
            <a:srgbClr val="22C55E"/>
          </a:solidFill>
          <a:ln w="12700">
            <a:solidFill>
              <a:srgbClr val="22C55E"/>
            </a:solidFill>
            <a:prstDash val="solid"/>
          </a:ln>
        </p:spPr>
      </p:sp>
      <p:sp>
        <p:nvSpPr>
          <p:cNvPr id="30" name="Text 28"/>
          <p:cNvSpPr/>
          <p:nvPr/>
        </p:nvSpPr>
        <p:spPr>
          <a:xfrm>
            <a:off x="3246120" y="2743200"/>
            <a:ext cx="2560320" cy="365760"/>
          </a:xfrm>
          <a:prstGeom prst="rect">
            <a:avLst/>
          </a:prstGeom>
          <a:noFill/>
          <a:ln/>
        </p:spPr>
        <p:txBody>
          <a:bodyPr wrap="square" lIns="0" tIns="0" rIns="0" bIns="0" rtlCol="0" anchor="ctr"/>
          <a:lstStyle/>
          <a:p>
            <a:pPr indent="0" marL="0">
              <a:buNone/>
            </a:pPr>
            <a:r>
              <a:rPr lang="en-US" sz="1600" b="1" dirty="0">
                <a:solidFill>
                  <a:srgbClr val="22C55E"/>
                </a:solidFill>
                <a:latin typeface="Calibri" pitchFamily="34" charset="0"/>
                <a:ea typeface="Calibri" pitchFamily="34" charset="-122"/>
                <a:cs typeface="Calibri" pitchFamily="34" charset="-120"/>
              </a:rPr>
              <a:t>🌐  Overlay</a:t>
            </a:r>
            <a:endParaRPr lang="en-US" sz="1600" dirty="0"/>
          </a:p>
        </p:txBody>
      </p:sp>
      <p:sp>
        <p:nvSpPr>
          <p:cNvPr id="31" name="Text 29"/>
          <p:cNvSpPr/>
          <p:nvPr/>
        </p:nvSpPr>
        <p:spPr>
          <a:xfrm>
            <a:off x="3246120" y="3127248"/>
            <a:ext cx="2560320" cy="685800"/>
          </a:xfrm>
          <a:prstGeom prst="rect">
            <a:avLst/>
          </a:prstGeom>
          <a:noFill/>
          <a:ln/>
        </p:spPr>
        <p:txBody>
          <a:bodyPr wrap="square" lIns="0" tIns="0" rIns="0" bIns="0" rtlCol="0" anchor="ctr"/>
          <a:lstStyle/>
          <a:p>
            <a:pPr indent="0" marL="0">
              <a:buNone/>
            </a:pPr>
            <a:r>
              <a:rPr lang="en-US" sz="1050" dirty="0">
                <a:solidFill>
                  <a:srgbClr val="94A3B8"/>
                </a:solidFill>
                <a:latin typeface="Calibri" pitchFamily="34" charset="0"/>
                <a:ea typeface="Calibri" pitchFamily="34" charset="-122"/>
                <a:cs typeface="Calibri" pitchFamily="34" charset="-120"/>
              </a:rPr>
              <a:t>Multi-host networking via VXLAN tunnels. Containers on different servers communicate seamlessly.</a:t>
            </a:r>
            <a:endParaRPr lang="en-US" sz="1050" dirty="0"/>
          </a:p>
        </p:txBody>
      </p:sp>
      <p:sp>
        <p:nvSpPr>
          <p:cNvPr id="32" name="Shape 30"/>
          <p:cNvSpPr/>
          <p:nvPr/>
        </p:nvSpPr>
        <p:spPr>
          <a:xfrm>
            <a:off x="3246120" y="3840480"/>
            <a:ext cx="2560320" cy="274320"/>
          </a:xfrm>
          <a:prstGeom prst="rect">
            <a:avLst/>
          </a:prstGeom>
          <a:solidFill>
            <a:srgbClr val="22C55E">
              <a:alpha val="20000"/>
            </a:srgbClr>
          </a:solidFill>
          <a:ln w="12700">
            <a:solidFill>
              <a:srgbClr val="22C55E">
                <a:alpha val="50000"/>
              </a:srgbClr>
            </a:solidFill>
            <a:prstDash val="solid"/>
          </a:ln>
        </p:spPr>
      </p:sp>
      <p:sp>
        <p:nvSpPr>
          <p:cNvPr id="33" name="Text 31"/>
          <p:cNvSpPr/>
          <p:nvPr/>
        </p:nvSpPr>
        <p:spPr>
          <a:xfrm>
            <a:off x="3264408" y="3840480"/>
            <a:ext cx="2523744" cy="274320"/>
          </a:xfrm>
          <a:prstGeom prst="rect">
            <a:avLst/>
          </a:prstGeom>
          <a:noFill/>
          <a:ln/>
        </p:spPr>
        <p:txBody>
          <a:bodyPr wrap="square" lIns="0" tIns="0" rIns="0" bIns="0" rtlCol="0" anchor="ctr"/>
          <a:lstStyle/>
          <a:p>
            <a:pPr indent="0" marL="0">
              <a:buNone/>
            </a:pPr>
            <a:r>
              <a:rPr lang="en-US" sz="950" b="1" dirty="0">
                <a:solidFill>
                  <a:srgbClr val="22C55E"/>
                </a:solidFill>
                <a:latin typeface="Calibri" pitchFamily="34" charset="0"/>
                <a:ea typeface="Calibri" pitchFamily="34" charset="-122"/>
                <a:cs typeface="Calibri" pitchFamily="34" charset="-120"/>
              </a:rPr>
              <a:t>Best for: Docker Swarm / multi-host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Shape 1"/>
          <p:cNvSpPr/>
          <p:nvPr/>
        </p:nvSpPr>
        <p:spPr>
          <a:xfrm>
            <a:off x="0" y="0"/>
            <a:ext cx="164592" cy="5143500"/>
          </a:xfrm>
          <a:prstGeom prst="rect">
            <a:avLst/>
          </a:prstGeom>
          <a:solidFill>
            <a:srgbClr val="06B6D4"/>
          </a:solidFill>
          <a:ln w="12700">
            <a:solidFill>
              <a:srgbClr val="06B6D4"/>
            </a:solidFill>
            <a:prstDash val="solid"/>
          </a:ln>
        </p:spPr>
      </p:sp>
      <p:sp>
        <p:nvSpPr>
          <p:cNvPr id="4" name="Text 2"/>
          <p:cNvSpPr/>
          <p:nvPr/>
        </p:nvSpPr>
        <p:spPr>
          <a:xfrm>
            <a:off x="365760" y="91440"/>
            <a:ext cx="8229600" cy="502920"/>
          </a:xfrm>
          <a:prstGeom prst="rect">
            <a:avLst/>
          </a:prstGeom>
          <a:noFill/>
          <a:ln/>
        </p:spPr>
        <p:txBody>
          <a:bodyPr wrap="square" lIns="0" tIns="0" rIns="0" bIns="0" rtlCol="0" anchor="ctr"/>
          <a:lstStyle/>
          <a:p>
            <a:pPr indent="0" marL="0">
              <a:buNone/>
            </a:pPr>
            <a:r>
              <a:rPr lang="en-US" sz="2200" b="1" dirty="0">
                <a:solidFill>
                  <a:srgbClr val="06B6D4"/>
                </a:solidFill>
                <a:latin typeface="Arial Black" pitchFamily="34" charset="0"/>
                <a:ea typeface="Arial Black" pitchFamily="34" charset="-122"/>
                <a:cs typeface="Arial Black" pitchFamily="34" charset="-120"/>
              </a:rPr>
              <a:t>🏢  BRIDGE NETWORK</a:t>
            </a:r>
            <a:endParaRPr lang="en-US" sz="2200" dirty="0"/>
          </a:p>
        </p:txBody>
      </p:sp>
      <p:sp>
        <p:nvSpPr>
          <p:cNvPr id="5" name="Shape 3"/>
          <p:cNvSpPr/>
          <p:nvPr/>
        </p:nvSpPr>
        <p:spPr>
          <a:xfrm>
            <a:off x="274320" y="777240"/>
            <a:ext cx="3931920" cy="1188720"/>
          </a:xfrm>
          <a:prstGeom prst="rect">
            <a:avLst/>
          </a:prstGeom>
          <a:solidFill>
            <a:srgbClr val="132337"/>
          </a:solidFill>
          <a:ln w="25400">
            <a:solidFill>
              <a:srgbClr val="FCD34D"/>
            </a:solidFill>
            <a:prstDash val="solid"/>
          </a:ln>
        </p:spPr>
      </p:sp>
      <p:sp>
        <p:nvSpPr>
          <p:cNvPr id="6" name="Text 4"/>
          <p:cNvSpPr/>
          <p:nvPr/>
        </p:nvSpPr>
        <p:spPr>
          <a:xfrm>
            <a:off x="411480" y="822960"/>
            <a:ext cx="3657600" cy="347472"/>
          </a:xfrm>
          <a:prstGeom prst="rect">
            <a:avLst/>
          </a:prstGeom>
          <a:noFill/>
          <a:ln/>
        </p:spPr>
        <p:txBody>
          <a:bodyPr wrap="square" lIns="0" tIns="0" rIns="0" bIns="0" rtlCol="0" anchor="ctr"/>
          <a:lstStyle/>
          <a:p>
            <a:pPr indent="0" marL="0">
              <a:buNone/>
            </a:pPr>
            <a:r>
              <a:rPr lang="en-US" sz="1300" b="1" dirty="0">
                <a:solidFill>
                  <a:srgbClr val="FCD34D"/>
                </a:solidFill>
              </a:rPr>
              <a:t>🏢  Analogy: Building Intercom</a:t>
            </a:r>
            <a:endParaRPr lang="en-US" sz="1300" dirty="0"/>
          </a:p>
        </p:txBody>
      </p:sp>
      <p:sp>
        <p:nvSpPr>
          <p:cNvPr id="7" name="Text 5"/>
          <p:cNvSpPr/>
          <p:nvPr/>
        </p:nvSpPr>
        <p:spPr>
          <a:xfrm>
            <a:off x="411480" y="1188720"/>
            <a:ext cx="3657600" cy="685800"/>
          </a:xfrm>
          <a:prstGeom prst="rect">
            <a:avLst/>
          </a:prstGeom>
          <a:noFill/>
          <a:ln/>
        </p:spPr>
        <p:txBody>
          <a:bodyPr wrap="square" lIns="0" tIns="0" rIns="0" bIns="0" rtlCol="0" anchor="ctr"/>
          <a:lstStyle/>
          <a:p>
            <a:pPr indent="0" marL="0">
              <a:buNone/>
            </a:pPr>
            <a:r>
              <a:rPr lang="en-US" sz="1150" dirty="0">
                <a:solidFill>
                  <a:srgbClr val="94A3B8"/>
                </a:solidFill>
              </a:rPr>
              <a:t>Apartments (containers) communicate via the building's internal intercom. Outsiders must ring the front desk (port mapping) to reach a specific apartment.</a:t>
            </a:r>
            <a:endParaRPr lang="en-US" sz="1150" dirty="0"/>
          </a:p>
        </p:txBody>
      </p:sp>
      <p:sp>
        <p:nvSpPr>
          <p:cNvPr id="8" name="Shape 6"/>
          <p:cNvSpPr/>
          <p:nvPr/>
        </p:nvSpPr>
        <p:spPr>
          <a:xfrm>
            <a:off x="274320" y="2103120"/>
            <a:ext cx="3931920" cy="2423160"/>
          </a:xfrm>
          <a:prstGeom prst="rect">
            <a:avLst/>
          </a:prstGeom>
          <a:solidFill>
            <a:srgbClr val="132337"/>
          </a:solidFill>
          <a:ln w="12700">
            <a:solidFill>
              <a:srgbClr val="06B6D4"/>
            </a:solidFill>
            <a:prstDash val="solid"/>
          </a:ln>
        </p:spPr>
      </p:sp>
      <p:sp>
        <p:nvSpPr>
          <p:cNvPr id="9" name="Text 7"/>
          <p:cNvSpPr/>
          <p:nvPr/>
        </p:nvSpPr>
        <p:spPr>
          <a:xfrm>
            <a:off x="411480" y="2176272"/>
            <a:ext cx="3657600" cy="347472"/>
          </a:xfrm>
          <a:prstGeom prst="rect">
            <a:avLst/>
          </a:prstGeom>
          <a:noFill/>
          <a:ln/>
        </p:spPr>
        <p:txBody>
          <a:bodyPr wrap="square" lIns="0" tIns="0" rIns="0" bIns="0" rtlCol="0" anchor="ctr"/>
          <a:lstStyle/>
          <a:p>
            <a:pPr indent="0" marL="0">
              <a:buNone/>
            </a:pPr>
            <a:r>
              <a:rPr lang="en-US" sz="1300" b="1" dirty="0">
                <a:solidFill>
                  <a:srgbClr val="06B6D4"/>
                </a:solidFill>
              </a:rPr>
              <a:t>⚙️  How It Works</a:t>
            </a:r>
            <a:endParaRPr lang="en-US" sz="1300" dirty="0"/>
          </a:p>
        </p:txBody>
      </p:sp>
      <p:sp>
        <p:nvSpPr>
          <p:cNvPr id="10" name="Text 8"/>
          <p:cNvSpPr/>
          <p:nvPr/>
        </p:nvSpPr>
        <p:spPr>
          <a:xfrm>
            <a:off x="411480" y="2542032"/>
            <a:ext cx="3657600" cy="182880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Each container gets a virtual ethernet pair (veth)</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One end in container (eth0), other on the bridge</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Private IP assigned (e.g. 172.17.x.x)</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NAT translates to Host IP for outbound traffic</a:t>
            </a:r>
            <a:endParaRPr lang="en-US" sz="1100" dirty="0"/>
          </a:p>
          <a:p>
            <a:pPr marL="342900" indent="-342900">
              <a:buSzPct val="100000"/>
              <a:buChar char="•"/>
            </a:pPr>
            <a:r>
              <a:rPr lang="en-US" sz="1100" dirty="0">
                <a:solidFill>
                  <a:srgbClr val="FFFFFF"/>
                </a:solidFill>
                <a:latin typeface="Calibri" pitchFamily="34" charset="0"/>
                <a:ea typeface="Calibri" pitchFamily="34" charset="-122"/>
                <a:cs typeface="Calibri" pitchFamily="34" charset="-120"/>
              </a:rPr>
              <a:t>DNAT (port mapping) routes inbound traffic</a:t>
            </a:r>
            <a:endParaRPr lang="en-US" sz="1100" dirty="0"/>
          </a:p>
        </p:txBody>
      </p:sp>
      <p:sp>
        <p:nvSpPr>
          <p:cNvPr id="11" name="Shape 9"/>
          <p:cNvSpPr/>
          <p:nvPr/>
        </p:nvSpPr>
        <p:spPr>
          <a:xfrm>
            <a:off x="4846320" y="749808"/>
            <a:ext cx="3931920" cy="502920"/>
          </a:xfrm>
          <a:prstGeom prst="rect">
            <a:avLst/>
          </a:prstGeom>
          <a:solidFill>
            <a:srgbClr val="1E3A4A"/>
          </a:solidFill>
          <a:ln w="12700">
            <a:solidFill>
              <a:srgbClr val="06B6D4"/>
            </a:solidFill>
            <a:prstDash val="solid"/>
          </a:ln>
        </p:spPr>
      </p:sp>
      <p:sp>
        <p:nvSpPr>
          <p:cNvPr id="12" name="Text 10"/>
          <p:cNvSpPr/>
          <p:nvPr/>
        </p:nvSpPr>
        <p:spPr>
          <a:xfrm>
            <a:off x="4846320" y="749808"/>
            <a:ext cx="3931920" cy="502920"/>
          </a:xfrm>
          <a:prstGeom prst="rect">
            <a:avLst/>
          </a:prstGeom>
          <a:noFill/>
          <a:ln/>
        </p:spPr>
        <p:txBody>
          <a:bodyPr wrap="square" lIns="0" tIns="0" rIns="0" bIns="0" rtlCol="0" anchor="ctr"/>
          <a:lstStyle/>
          <a:p>
            <a:pPr algn="ctr" indent="0" marL="0">
              <a:buNone/>
            </a:pPr>
            <a:r>
              <a:rPr lang="en-US" sz="1300" b="1" dirty="0">
                <a:solidFill>
                  <a:srgbClr val="06B6D4"/>
                </a:solidFill>
              </a:rPr>
              <a:t>🌐  Internet</a:t>
            </a:r>
            <a:endParaRPr lang="en-US" sz="1300" dirty="0"/>
          </a:p>
        </p:txBody>
      </p:sp>
      <p:sp>
        <p:nvSpPr>
          <p:cNvPr id="13" name="Shape 11"/>
          <p:cNvSpPr/>
          <p:nvPr/>
        </p:nvSpPr>
        <p:spPr>
          <a:xfrm>
            <a:off x="6812280" y="1252728"/>
            <a:ext cx="0" cy="411480"/>
          </a:xfrm>
          <a:prstGeom prst="line">
            <a:avLst/>
          </a:prstGeom>
          <a:noFill/>
          <a:ln w="25400">
            <a:solidFill>
              <a:srgbClr val="94A3B8"/>
            </a:solidFill>
            <a:prstDash val="solid"/>
          </a:ln>
        </p:spPr>
      </p:sp>
      <p:sp>
        <p:nvSpPr>
          <p:cNvPr id="14" name="Text 12"/>
          <p:cNvSpPr/>
          <p:nvPr/>
        </p:nvSpPr>
        <p:spPr>
          <a:xfrm>
            <a:off x="6400800" y="1371600"/>
            <a:ext cx="1371600" cy="274320"/>
          </a:xfrm>
          <a:prstGeom prst="rect">
            <a:avLst/>
          </a:prstGeom>
          <a:noFill/>
          <a:ln/>
        </p:spPr>
        <p:txBody>
          <a:bodyPr wrap="square" lIns="0" tIns="0" rIns="0" bIns="0" rtlCol="0" anchor="ctr"/>
          <a:lstStyle/>
          <a:p>
            <a:pPr algn="ctr" indent="0" marL="0">
              <a:buNone/>
            </a:pPr>
            <a:r>
              <a:rPr lang="en-US" sz="1000" dirty="0">
                <a:solidFill>
                  <a:srgbClr val="FCD34D"/>
                </a:solidFill>
              </a:rPr>
              <a:t>↓ :8080</a:t>
            </a:r>
            <a:endParaRPr lang="en-US" sz="1000" dirty="0"/>
          </a:p>
        </p:txBody>
      </p:sp>
      <p:sp>
        <p:nvSpPr>
          <p:cNvPr id="15" name="Shape 13"/>
          <p:cNvSpPr/>
          <p:nvPr/>
        </p:nvSpPr>
        <p:spPr>
          <a:xfrm>
            <a:off x="4846320" y="1664208"/>
            <a:ext cx="3931920" cy="502920"/>
          </a:xfrm>
          <a:prstGeom prst="rect">
            <a:avLst/>
          </a:prstGeom>
          <a:solidFill>
            <a:srgbClr val="1A3A5C"/>
          </a:solidFill>
          <a:ln w="12700">
            <a:solidFill>
              <a:srgbClr val="0E7490"/>
            </a:solidFill>
            <a:prstDash val="solid"/>
          </a:ln>
        </p:spPr>
      </p:sp>
      <p:sp>
        <p:nvSpPr>
          <p:cNvPr id="16" name="Text 14"/>
          <p:cNvSpPr/>
          <p:nvPr/>
        </p:nvSpPr>
        <p:spPr>
          <a:xfrm>
            <a:off x="4846320" y="1664208"/>
            <a:ext cx="3931920" cy="502920"/>
          </a:xfrm>
          <a:prstGeom prst="rect">
            <a:avLst/>
          </a:prstGeom>
          <a:noFill/>
          <a:ln/>
        </p:spPr>
        <p:txBody>
          <a:bodyPr wrap="square" lIns="0" tIns="0" rIns="0" bIns="0" rtlCol="0" anchor="ctr"/>
          <a:lstStyle/>
          <a:p>
            <a:pPr algn="ctr" indent="0" marL="0">
              <a:buNone/>
            </a:pPr>
            <a:r>
              <a:rPr lang="en-US" sz="1200" b="1" dirty="0">
                <a:solidFill>
                  <a:srgbClr val="FFFFFF"/>
                </a:solidFill>
              </a:rPr>
              <a:t>🖥️  Host Machine (Port 8080)</a:t>
            </a:r>
            <a:endParaRPr lang="en-US" sz="1200" dirty="0"/>
          </a:p>
        </p:txBody>
      </p:sp>
      <p:sp>
        <p:nvSpPr>
          <p:cNvPr id="17" name="Text 15"/>
          <p:cNvSpPr/>
          <p:nvPr/>
        </p:nvSpPr>
        <p:spPr>
          <a:xfrm>
            <a:off x="6217920" y="2212848"/>
            <a:ext cx="1828800" cy="274320"/>
          </a:xfrm>
          <a:prstGeom prst="rect">
            <a:avLst/>
          </a:prstGeom>
          <a:noFill/>
          <a:ln/>
        </p:spPr>
        <p:txBody>
          <a:bodyPr wrap="square" lIns="0" tIns="0" rIns="0" bIns="0" rtlCol="0" anchor="ctr"/>
          <a:lstStyle/>
          <a:p>
            <a:pPr algn="ctr" indent="0" marL="0">
              <a:buNone/>
            </a:pPr>
            <a:r>
              <a:rPr lang="en-US" sz="1000" dirty="0">
                <a:solidFill>
                  <a:srgbClr val="FCD34D"/>
                </a:solidFill>
              </a:rPr>
              <a:t>↓ DNAT → :80</a:t>
            </a:r>
            <a:endParaRPr lang="en-US" sz="1000" dirty="0"/>
          </a:p>
        </p:txBody>
      </p:sp>
      <p:sp>
        <p:nvSpPr>
          <p:cNvPr id="18" name="Shape 16"/>
          <p:cNvSpPr/>
          <p:nvPr/>
        </p:nvSpPr>
        <p:spPr>
          <a:xfrm>
            <a:off x="4846320" y="2542032"/>
            <a:ext cx="3931920" cy="411480"/>
          </a:xfrm>
          <a:prstGeom prst="rect">
            <a:avLst/>
          </a:prstGeom>
          <a:solidFill>
            <a:srgbClr val="132337"/>
          </a:solidFill>
          <a:ln w="25400">
            <a:solidFill>
              <a:srgbClr val="06B6D4"/>
            </a:solidFill>
            <a:prstDash val="solid"/>
          </a:ln>
        </p:spPr>
      </p:sp>
      <p:sp>
        <p:nvSpPr>
          <p:cNvPr id="19" name="Text 17"/>
          <p:cNvSpPr/>
          <p:nvPr/>
        </p:nvSpPr>
        <p:spPr>
          <a:xfrm>
            <a:off x="4846320" y="2542032"/>
            <a:ext cx="3931920" cy="411480"/>
          </a:xfrm>
          <a:prstGeom prst="rect">
            <a:avLst/>
          </a:prstGeom>
          <a:noFill/>
          <a:ln/>
        </p:spPr>
        <p:txBody>
          <a:bodyPr wrap="square" lIns="0" tIns="0" rIns="0" bIns="0" rtlCol="0" anchor="ctr"/>
          <a:lstStyle/>
          <a:p>
            <a:pPr algn="ctr" indent="0" marL="0">
              <a:buNone/>
            </a:pPr>
            <a:r>
              <a:rPr lang="en-US" sz="1100" b="1" dirty="0">
                <a:solidFill>
                  <a:srgbClr val="06B6D4"/>
                </a:solidFill>
              </a:rPr>
              <a:t>🔀  Docker Bridge (docker0 / custom)</a:t>
            </a:r>
            <a:endParaRPr lang="en-US" sz="1100" dirty="0"/>
          </a:p>
        </p:txBody>
      </p:sp>
      <p:sp>
        <p:nvSpPr>
          <p:cNvPr id="20" name="Shape 18"/>
          <p:cNvSpPr/>
          <p:nvPr/>
        </p:nvSpPr>
        <p:spPr>
          <a:xfrm>
            <a:off x="4846320" y="3127248"/>
            <a:ext cx="1371600" cy="822960"/>
          </a:xfrm>
          <a:prstGeom prst="rect">
            <a:avLst/>
          </a:prstGeom>
          <a:solidFill>
            <a:srgbClr val="0F2942"/>
          </a:solidFill>
          <a:ln w="12700">
            <a:solidFill>
              <a:srgbClr val="0E7490"/>
            </a:solidFill>
            <a:prstDash val="solid"/>
          </a:ln>
        </p:spPr>
      </p:sp>
      <p:sp>
        <p:nvSpPr>
          <p:cNvPr id="21" name="Text 19"/>
          <p:cNvSpPr/>
          <p:nvPr/>
        </p:nvSpPr>
        <p:spPr>
          <a:xfrm>
            <a:off x="4846320" y="3182112"/>
            <a:ext cx="1371600" cy="274320"/>
          </a:xfrm>
          <a:prstGeom prst="rect">
            <a:avLst/>
          </a:prstGeom>
          <a:noFill/>
          <a:ln/>
        </p:spPr>
        <p:txBody>
          <a:bodyPr wrap="square" lIns="0" tIns="0" rIns="0" bIns="0" rtlCol="0" anchor="ctr"/>
          <a:lstStyle/>
          <a:p>
            <a:pPr algn="ctr" indent="0" marL="0">
              <a:buNone/>
            </a:pPr>
            <a:r>
              <a:rPr lang="en-US" sz="1200" b="1" dirty="0">
                <a:solidFill>
                  <a:srgbClr val="FFFFFF"/>
                </a:solidFill>
              </a:rPr>
              <a:t>web</a:t>
            </a:r>
            <a:endParaRPr lang="en-US" sz="1200" dirty="0"/>
          </a:p>
        </p:txBody>
      </p:sp>
      <p:sp>
        <p:nvSpPr>
          <p:cNvPr id="22" name="Text 20"/>
          <p:cNvSpPr/>
          <p:nvPr/>
        </p:nvSpPr>
        <p:spPr>
          <a:xfrm>
            <a:off x="4846320" y="3456432"/>
            <a:ext cx="1371600" cy="228600"/>
          </a:xfrm>
          <a:prstGeom prst="rect">
            <a:avLst/>
          </a:prstGeom>
          <a:noFill/>
          <a:ln/>
        </p:spPr>
        <p:txBody>
          <a:bodyPr wrap="square" lIns="0" tIns="0" rIns="0" bIns="0" rtlCol="0" anchor="ctr"/>
          <a:lstStyle/>
          <a:p>
            <a:pPr algn="ctr" indent="0" marL="0">
              <a:buNone/>
            </a:pPr>
            <a:r>
              <a:rPr lang="en-US" sz="900" dirty="0">
                <a:solidFill>
                  <a:srgbClr val="94A3B8"/>
                </a:solidFill>
              </a:rPr>
              <a:t>172.17.0.2</a:t>
            </a:r>
            <a:endParaRPr lang="en-US" sz="900" dirty="0"/>
          </a:p>
        </p:txBody>
      </p:sp>
      <p:sp>
        <p:nvSpPr>
          <p:cNvPr id="23" name="Text 21"/>
          <p:cNvSpPr/>
          <p:nvPr/>
        </p:nvSpPr>
        <p:spPr>
          <a:xfrm>
            <a:off x="4846320" y="3685032"/>
            <a:ext cx="1371600" cy="228600"/>
          </a:xfrm>
          <a:prstGeom prst="rect">
            <a:avLst/>
          </a:prstGeom>
          <a:noFill/>
          <a:ln/>
        </p:spPr>
        <p:txBody>
          <a:bodyPr wrap="square" lIns="0" tIns="0" rIns="0" bIns="0" rtlCol="0" anchor="ctr"/>
          <a:lstStyle/>
          <a:p>
            <a:pPr algn="ctr" indent="0" marL="0">
              <a:buNone/>
            </a:pPr>
            <a:r>
              <a:rPr lang="en-US" sz="900" dirty="0">
                <a:solidFill>
                  <a:srgbClr val="06B6D4"/>
                </a:solidFill>
              </a:rPr>
              <a:t>:80</a:t>
            </a:r>
            <a:endParaRPr lang="en-US" sz="900" dirty="0"/>
          </a:p>
        </p:txBody>
      </p:sp>
      <p:sp>
        <p:nvSpPr>
          <p:cNvPr id="24" name="Shape 22"/>
          <p:cNvSpPr/>
          <p:nvPr/>
        </p:nvSpPr>
        <p:spPr>
          <a:xfrm>
            <a:off x="6400800" y="3127248"/>
            <a:ext cx="1371600" cy="822960"/>
          </a:xfrm>
          <a:prstGeom prst="rect">
            <a:avLst/>
          </a:prstGeom>
          <a:solidFill>
            <a:srgbClr val="0F2942"/>
          </a:solidFill>
          <a:ln w="12700">
            <a:solidFill>
              <a:srgbClr val="0E7490"/>
            </a:solidFill>
            <a:prstDash val="solid"/>
          </a:ln>
        </p:spPr>
      </p:sp>
      <p:sp>
        <p:nvSpPr>
          <p:cNvPr id="25" name="Text 23"/>
          <p:cNvSpPr/>
          <p:nvPr/>
        </p:nvSpPr>
        <p:spPr>
          <a:xfrm>
            <a:off x="6400800" y="3182112"/>
            <a:ext cx="1371600" cy="274320"/>
          </a:xfrm>
          <a:prstGeom prst="rect">
            <a:avLst/>
          </a:prstGeom>
          <a:noFill/>
          <a:ln/>
        </p:spPr>
        <p:txBody>
          <a:bodyPr wrap="square" lIns="0" tIns="0" rIns="0" bIns="0" rtlCol="0" anchor="ctr"/>
          <a:lstStyle/>
          <a:p>
            <a:pPr algn="ctr" indent="0" marL="0">
              <a:buNone/>
            </a:pPr>
            <a:r>
              <a:rPr lang="en-US" sz="1200" b="1" dirty="0">
                <a:solidFill>
                  <a:srgbClr val="FFFFFF"/>
                </a:solidFill>
              </a:rPr>
              <a:t>api</a:t>
            </a:r>
            <a:endParaRPr lang="en-US" sz="1200" dirty="0"/>
          </a:p>
        </p:txBody>
      </p:sp>
      <p:sp>
        <p:nvSpPr>
          <p:cNvPr id="26" name="Text 24"/>
          <p:cNvSpPr/>
          <p:nvPr/>
        </p:nvSpPr>
        <p:spPr>
          <a:xfrm>
            <a:off x="6400800" y="3456432"/>
            <a:ext cx="1371600" cy="228600"/>
          </a:xfrm>
          <a:prstGeom prst="rect">
            <a:avLst/>
          </a:prstGeom>
          <a:noFill/>
          <a:ln/>
        </p:spPr>
        <p:txBody>
          <a:bodyPr wrap="square" lIns="0" tIns="0" rIns="0" bIns="0" rtlCol="0" anchor="ctr"/>
          <a:lstStyle/>
          <a:p>
            <a:pPr algn="ctr" indent="0" marL="0">
              <a:buNone/>
            </a:pPr>
            <a:r>
              <a:rPr lang="en-US" sz="900" dirty="0">
                <a:solidFill>
                  <a:srgbClr val="94A3B8"/>
                </a:solidFill>
              </a:rPr>
              <a:t>172.17.0.3</a:t>
            </a:r>
            <a:endParaRPr lang="en-US" sz="900" dirty="0"/>
          </a:p>
        </p:txBody>
      </p:sp>
      <p:sp>
        <p:nvSpPr>
          <p:cNvPr id="27" name="Text 25"/>
          <p:cNvSpPr/>
          <p:nvPr/>
        </p:nvSpPr>
        <p:spPr>
          <a:xfrm>
            <a:off x="6400800" y="3685032"/>
            <a:ext cx="1371600" cy="228600"/>
          </a:xfrm>
          <a:prstGeom prst="rect">
            <a:avLst/>
          </a:prstGeom>
          <a:noFill/>
          <a:ln/>
        </p:spPr>
        <p:txBody>
          <a:bodyPr wrap="square" lIns="0" tIns="0" rIns="0" bIns="0" rtlCol="0" anchor="ctr"/>
          <a:lstStyle/>
          <a:p>
            <a:pPr algn="ctr" indent="0" marL="0">
              <a:buNone/>
            </a:pPr>
            <a:r>
              <a:rPr lang="en-US" sz="900" dirty="0">
                <a:solidFill>
                  <a:srgbClr val="06B6D4"/>
                </a:solidFill>
              </a:rPr>
              <a:t>:5000</a:t>
            </a:r>
            <a:endParaRPr lang="en-US" sz="900" dirty="0"/>
          </a:p>
        </p:txBody>
      </p:sp>
      <p:sp>
        <p:nvSpPr>
          <p:cNvPr id="28" name="Shape 26"/>
          <p:cNvSpPr/>
          <p:nvPr/>
        </p:nvSpPr>
        <p:spPr>
          <a:xfrm>
            <a:off x="7955280" y="3127248"/>
            <a:ext cx="1371600" cy="822960"/>
          </a:xfrm>
          <a:prstGeom prst="rect">
            <a:avLst/>
          </a:prstGeom>
          <a:solidFill>
            <a:srgbClr val="0F2942"/>
          </a:solidFill>
          <a:ln w="12700">
            <a:solidFill>
              <a:srgbClr val="0E7490"/>
            </a:solidFill>
            <a:prstDash val="solid"/>
          </a:ln>
        </p:spPr>
      </p:sp>
      <p:sp>
        <p:nvSpPr>
          <p:cNvPr id="29" name="Text 27"/>
          <p:cNvSpPr/>
          <p:nvPr/>
        </p:nvSpPr>
        <p:spPr>
          <a:xfrm>
            <a:off x="7955280" y="3182112"/>
            <a:ext cx="1371600" cy="274320"/>
          </a:xfrm>
          <a:prstGeom prst="rect">
            <a:avLst/>
          </a:prstGeom>
          <a:noFill/>
          <a:ln/>
        </p:spPr>
        <p:txBody>
          <a:bodyPr wrap="square" lIns="0" tIns="0" rIns="0" bIns="0" rtlCol="0" anchor="ctr"/>
          <a:lstStyle/>
          <a:p>
            <a:pPr algn="ctr" indent="0" marL="0">
              <a:buNone/>
            </a:pPr>
            <a:r>
              <a:rPr lang="en-US" sz="1200" b="1" dirty="0">
                <a:solidFill>
                  <a:srgbClr val="FFFFFF"/>
                </a:solidFill>
              </a:rPr>
              <a:t>db</a:t>
            </a:r>
            <a:endParaRPr lang="en-US" sz="1200" dirty="0"/>
          </a:p>
        </p:txBody>
      </p:sp>
      <p:sp>
        <p:nvSpPr>
          <p:cNvPr id="30" name="Text 28"/>
          <p:cNvSpPr/>
          <p:nvPr/>
        </p:nvSpPr>
        <p:spPr>
          <a:xfrm>
            <a:off x="7955280" y="3456432"/>
            <a:ext cx="1371600" cy="228600"/>
          </a:xfrm>
          <a:prstGeom prst="rect">
            <a:avLst/>
          </a:prstGeom>
          <a:noFill/>
          <a:ln/>
        </p:spPr>
        <p:txBody>
          <a:bodyPr wrap="square" lIns="0" tIns="0" rIns="0" bIns="0" rtlCol="0" anchor="ctr"/>
          <a:lstStyle/>
          <a:p>
            <a:pPr algn="ctr" indent="0" marL="0">
              <a:buNone/>
            </a:pPr>
            <a:r>
              <a:rPr lang="en-US" sz="900" dirty="0">
                <a:solidFill>
                  <a:srgbClr val="94A3B8"/>
                </a:solidFill>
              </a:rPr>
              <a:t>172.17.0.4</a:t>
            </a:r>
            <a:endParaRPr lang="en-US" sz="900" dirty="0"/>
          </a:p>
        </p:txBody>
      </p:sp>
      <p:sp>
        <p:nvSpPr>
          <p:cNvPr id="31" name="Text 29"/>
          <p:cNvSpPr/>
          <p:nvPr/>
        </p:nvSpPr>
        <p:spPr>
          <a:xfrm>
            <a:off x="7955280" y="3685032"/>
            <a:ext cx="1371600" cy="228600"/>
          </a:xfrm>
          <a:prstGeom prst="rect">
            <a:avLst/>
          </a:prstGeom>
          <a:noFill/>
          <a:ln/>
        </p:spPr>
        <p:txBody>
          <a:bodyPr wrap="square" lIns="0" tIns="0" rIns="0" bIns="0" rtlCol="0" anchor="ctr"/>
          <a:lstStyle/>
          <a:p>
            <a:pPr algn="ctr" indent="0" marL="0">
              <a:buNone/>
            </a:pPr>
            <a:r>
              <a:rPr lang="en-US" sz="900" dirty="0">
                <a:solidFill>
                  <a:srgbClr val="06B6D4"/>
                </a:solidFill>
              </a:rPr>
              <a:t>:5432</a:t>
            </a:r>
            <a:endParaRPr lang="en-US" sz="900" dirty="0"/>
          </a:p>
        </p:txBody>
      </p:sp>
      <p:sp>
        <p:nvSpPr>
          <p:cNvPr id="32" name="Shape 30"/>
          <p:cNvSpPr/>
          <p:nvPr/>
        </p:nvSpPr>
        <p:spPr>
          <a:xfrm>
            <a:off x="4846320" y="4160520"/>
            <a:ext cx="3931920" cy="640080"/>
          </a:xfrm>
          <a:prstGeom prst="rect">
            <a:avLst/>
          </a:prstGeom>
          <a:solidFill>
            <a:srgbClr val="0A1628"/>
          </a:solidFill>
          <a:ln w="12700">
            <a:solidFill>
              <a:srgbClr val="64748B"/>
            </a:solidFill>
            <a:prstDash val="solid"/>
          </a:ln>
        </p:spPr>
      </p:sp>
      <p:sp>
        <p:nvSpPr>
          <p:cNvPr id="33" name="Text 31"/>
          <p:cNvSpPr/>
          <p:nvPr/>
        </p:nvSpPr>
        <p:spPr>
          <a:xfrm>
            <a:off x="4983480" y="4206240"/>
            <a:ext cx="3657600" cy="548640"/>
          </a:xfrm>
          <a:prstGeom prst="rect">
            <a:avLst/>
          </a:prstGeom>
          <a:noFill/>
          <a:ln/>
        </p:spPr>
        <p:txBody>
          <a:bodyPr wrap="square" lIns="0" tIns="0" rIns="0" bIns="0" rtlCol="0" anchor="ctr"/>
          <a:lstStyle/>
          <a:p>
            <a:pPr indent="0" marL="0">
              <a:buNone/>
            </a:pPr>
            <a:r>
              <a:rPr lang="en-US" sz="950" dirty="0">
                <a:solidFill>
                  <a:srgbClr val="22C55E"/>
                </a:solidFill>
                <a:latin typeface="Consolas" pitchFamily="34" charset="0"/>
                <a:ea typeface="Consolas" pitchFamily="34" charset="-122"/>
                <a:cs typeface="Consolas" pitchFamily="34" charset="-120"/>
              </a:rPr>
              <a:t>$ docker network create myapp</a:t>
            </a:r>
            <a:endParaRPr lang="en-US" sz="950" dirty="0"/>
          </a:p>
          <a:p>
            <a:pPr indent="0" marL="0">
              <a:buNone/>
            </a:pPr>
            <a:r>
              <a:rPr lang="en-US" sz="950" dirty="0">
                <a:solidFill>
                  <a:srgbClr val="22C55E"/>
                </a:solidFill>
                <a:latin typeface="Consolas" pitchFamily="34" charset="0"/>
                <a:ea typeface="Consolas" pitchFamily="34" charset="-122"/>
                <a:cs typeface="Consolas" pitchFamily="34" charset="-120"/>
              </a:rPr>
              <a:t>$ docker run -d --name web --network myapp nginx</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Shape 1"/>
          <p:cNvSpPr/>
          <p:nvPr/>
        </p:nvSpPr>
        <p:spPr>
          <a:xfrm>
            <a:off x="0" y="0"/>
            <a:ext cx="164592" cy="5143500"/>
          </a:xfrm>
          <a:prstGeom prst="rect">
            <a:avLst/>
          </a:prstGeom>
          <a:solidFill>
            <a:srgbClr val="F97316"/>
          </a:solidFill>
          <a:ln w="12700">
            <a:solidFill>
              <a:srgbClr val="F97316"/>
            </a:solidFill>
            <a:prstDash val="solid"/>
          </a:ln>
        </p:spPr>
      </p:sp>
      <p:sp>
        <p:nvSpPr>
          <p:cNvPr id="4" name="Text 2"/>
          <p:cNvSpPr/>
          <p:nvPr/>
        </p:nvSpPr>
        <p:spPr>
          <a:xfrm>
            <a:off x="365760" y="91440"/>
            <a:ext cx="8229600" cy="502920"/>
          </a:xfrm>
          <a:prstGeom prst="rect">
            <a:avLst/>
          </a:prstGeom>
          <a:noFill/>
          <a:ln/>
        </p:spPr>
        <p:txBody>
          <a:bodyPr wrap="square" lIns="0" tIns="0" rIns="0" bIns="0" rtlCol="0" anchor="ctr"/>
          <a:lstStyle/>
          <a:p>
            <a:pPr indent="0" marL="0">
              <a:buNone/>
            </a:pPr>
            <a:r>
              <a:rPr lang="en-US" sz="2200" b="1" dirty="0">
                <a:solidFill>
                  <a:srgbClr val="F97316"/>
                </a:solidFill>
                <a:latin typeface="Arial Black" pitchFamily="34" charset="0"/>
                <a:ea typeface="Arial Black" pitchFamily="34" charset="-122"/>
                <a:cs typeface="Arial Black" pitchFamily="34" charset="-120"/>
              </a:rPr>
              <a:t>🚪  HOST NETWORK</a:t>
            </a:r>
            <a:endParaRPr lang="en-US" sz="2200" dirty="0"/>
          </a:p>
        </p:txBody>
      </p:sp>
      <p:sp>
        <p:nvSpPr>
          <p:cNvPr id="5" name="Shape 3"/>
          <p:cNvSpPr/>
          <p:nvPr/>
        </p:nvSpPr>
        <p:spPr>
          <a:xfrm>
            <a:off x="274320" y="777240"/>
            <a:ext cx="3931920" cy="1188720"/>
          </a:xfrm>
          <a:prstGeom prst="rect">
            <a:avLst/>
          </a:prstGeom>
          <a:solidFill>
            <a:srgbClr val="132337"/>
          </a:solidFill>
          <a:ln w="25400">
            <a:solidFill>
              <a:srgbClr val="FCD34D"/>
            </a:solidFill>
            <a:prstDash val="solid"/>
          </a:ln>
        </p:spPr>
      </p:sp>
      <p:sp>
        <p:nvSpPr>
          <p:cNvPr id="6" name="Text 4"/>
          <p:cNvSpPr/>
          <p:nvPr/>
        </p:nvSpPr>
        <p:spPr>
          <a:xfrm>
            <a:off x="411480" y="822960"/>
            <a:ext cx="3657600" cy="347472"/>
          </a:xfrm>
          <a:prstGeom prst="rect">
            <a:avLst/>
          </a:prstGeom>
          <a:noFill/>
          <a:ln/>
        </p:spPr>
        <p:txBody>
          <a:bodyPr wrap="square" lIns="0" tIns="0" rIns="0" bIns="0" rtlCol="0" anchor="ctr"/>
          <a:lstStyle/>
          <a:p>
            <a:pPr indent="0" marL="0">
              <a:buNone/>
            </a:pPr>
            <a:r>
              <a:rPr lang="en-US" sz="1300" b="1" dirty="0">
                <a:solidFill>
                  <a:srgbClr val="FCD34D"/>
                </a:solidFill>
              </a:rPr>
              <a:t>🏠  Analogy: No Apartment Walls</a:t>
            </a:r>
            <a:endParaRPr lang="en-US" sz="1300" dirty="0"/>
          </a:p>
        </p:txBody>
      </p:sp>
      <p:sp>
        <p:nvSpPr>
          <p:cNvPr id="7" name="Text 5"/>
          <p:cNvSpPr/>
          <p:nvPr/>
        </p:nvSpPr>
        <p:spPr>
          <a:xfrm>
            <a:off x="411480" y="1188720"/>
            <a:ext cx="3657600" cy="685800"/>
          </a:xfrm>
          <a:prstGeom prst="rect">
            <a:avLst/>
          </a:prstGeom>
          <a:noFill/>
          <a:ln/>
        </p:spPr>
        <p:txBody>
          <a:bodyPr wrap="square" lIns="0" tIns="0" rIns="0" bIns="0" rtlCol="0" anchor="ctr"/>
          <a:lstStyle/>
          <a:p>
            <a:pPr indent="0" marL="0">
              <a:buNone/>
            </a:pPr>
            <a:r>
              <a:rPr lang="en-US" sz="1150" dirty="0">
                <a:solidFill>
                  <a:srgbClr val="94A3B8"/>
                </a:solidFill>
              </a:rPr>
              <a:t>Imagine removing all apartment walls. The tenant (container) lives directly in the building lobby — exposed to everyone. No doors, no intercom. Complete openness.</a:t>
            </a:r>
            <a:endParaRPr lang="en-US" sz="1150" dirty="0"/>
          </a:p>
        </p:txBody>
      </p:sp>
      <p:sp>
        <p:nvSpPr>
          <p:cNvPr id="8" name="Shape 6"/>
          <p:cNvSpPr/>
          <p:nvPr/>
        </p:nvSpPr>
        <p:spPr>
          <a:xfrm>
            <a:off x="274320" y="2103120"/>
            <a:ext cx="1828800" cy="1371600"/>
          </a:xfrm>
          <a:prstGeom prst="rect">
            <a:avLst/>
          </a:prstGeom>
          <a:solidFill>
            <a:srgbClr val="132337"/>
          </a:solidFill>
          <a:ln w="12700">
            <a:solidFill>
              <a:srgbClr val="22C55E"/>
            </a:solidFill>
            <a:prstDash val="solid"/>
          </a:ln>
        </p:spPr>
      </p:sp>
      <p:sp>
        <p:nvSpPr>
          <p:cNvPr id="9" name="Text 7"/>
          <p:cNvSpPr/>
          <p:nvPr/>
        </p:nvSpPr>
        <p:spPr>
          <a:xfrm>
            <a:off x="365760" y="2148840"/>
            <a:ext cx="1645920" cy="320040"/>
          </a:xfrm>
          <a:prstGeom prst="rect">
            <a:avLst/>
          </a:prstGeom>
          <a:noFill/>
          <a:ln/>
        </p:spPr>
        <p:txBody>
          <a:bodyPr wrap="square" lIns="0" tIns="0" rIns="0" bIns="0" rtlCol="0" anchor="ctr"/>
          <a:lstStyle/>
          <a:p>
            <a:pPr indent="0" marL="0">
              <a:buNone/>
            </a:pPr>
            <a:r>
              <a:rPr lang="en-US" sz="1300" b="1" dirty="0">
                <a:solidFill>
                  <a:srgbClr val="22C55E"/>
                </a:solidFill>
              </a:rPr>
              <a:t>✅  Pros</a:t>
            </a:r>
            <a:endParaRPr lang="en-US" sz="1300" dirty="0"/>
          </a:p>
        </p:txBody>
      </p:sp>
      <p:sp>
        <p:nvSpPr>
          <p:cNvPr id="10" name="Text 8"/>
          <p:cNvSpPr/>
          <p:nvPr/>
        </p:nvSpPr>
        <p:spPr>
          <a:xfrm>
            <a:off x="365760" y="2487168"/>
            <a:ext cx="1645920" cy="914400"/>
          </a:xfrm>
          <a:prstGeom prst="rect">
            <a:avLst/>
          </a:prstGeom>
          <a:noFill/>
          <a:ln/>
        </p:spPr>
        <p:txBody>
          <a:bodyPr wrap="square" lIns="0" tIns="0" rIns="0" bIns="0" rtlCol="0" anchor="ctr"/>
          <a:lstStyle/>
          <a:p>
            <a:pPr marL="342900" indent="-342900">
              <a:buSzPct val="100000"/>
              <a:buChar char="•"/>
            </a:pPr>
            <a:r>
              <a:rPr lang="en-US" sz="1050" dirty="0">
                <a:solidFill>
                  <a:srgbClr val="FFFFFF"/>
                </a:solidFill>
              </a:rPr>
              <a:t>No NAT overhead</a:t>
            </a:r>
            <a:endParaRPr lang="en-US" sz="1050" dirty="0"/>
          </a:p>
          <a:p>
            <a:pPr marL="342900" indent="-342900">
              <a:buSzPct val="100000"/>
              <a:buChar char="•"/>
            </a:pPr>
            <a:r>
              <a:rPr lang="en-US" sz="1050" dirty="0">
                <a:solidFill>
                  <a:srgbClr val="FFFFFF"/>
                </a:solidFill>
              </a:rPr>
              <a:t>Max performance</a:t>
            </a:r>
            <a:endParaRPr lang="en-US" sz="1050" dirty="0"/>
          </a:p>
          <a:p>
            <a:pPr marL="342900" indent="-342900">
              <a:buSzPct val="100000"/>
              <a:buChar char="•"/>
            </a:pPr>
            <a:r>
              <a:rPr lang="en-US" sz="1050" dirty="0">
                <a:solidFill>
                  <a:srgbClr val="FFFFFF"/>
                </a:solidFill>
              </a:rPr>
              <a:t>No port mapping needed</a:t>
            </a:r>
            <a:endParaRPr lang="en-US" sz="1050" dirty="0"/>
          </a:p>
        </p:txBody>
      </p:sp>
      <p:sp>
        <p:nvSpPr>
          <p:cNvPr id="11" name="Shape 9"/>
          <p:cNvSpPr/>
          <p:nvPr/>
        </p:nvSpPr>
        <p:spPr>
          <a:xfrm>
            <a:off x="2286000" y="2103120"/>
            <a:ext cx="1920240" cy="1371600"/>
          </a:xfrm>
          <a:prstGeom prst="rect">
            <a:avLst/>
          </a:prstGeom>
          <a:solidFill>
            <a:srgbClr val="132337"/>
          </a:solidFill>
          <a:ln w="12700">
            <a:solidFill>
              <a:srgbClr val="EF4444"/>
            </a:solidFill>
            <a:prstDash val="solid"/>
          </a:ln>
        </p:spPr>
      </p:sp>
      <p:sp>
        <p:nvSpPr>
          <p:cNvPr id="12" name="Text 10"/>
          <p:cNvSpPr/>
          <p:nvPr/>
        </p:nvSpPr>
        <p:spPr>
          <a:xfrm>
            <a:off x="2377440" y="2148840"/>
            <a:ext cx="1737360" cy="320040"/>
          </a:xfrm>
          <a:prstGeom prst="rect">
            <a:avLst/>
          </a:prstGeom>
          <a:noFill/>
          <a:ln/>
        </p:spPr>
        <p:txBody>
          <a:bodyPr wrap="square" lIns="0" tIns="0" rIns="0" bIns="0" rtlCol="0" anchor="ctr"/>
          <a:lstStyle/>
          <a:p>
            <a:pPr indent="0" marL="0">
              <a:buNone/>
            </a:pPr>
            <a:r>
              <a:rPr lang="en-US" sz="1300" b="1" dirty="0">
                <a:solidFill>
                  <a:srgbClr val="EF4444"/>
                </a:solidFill>
              </a:rPr>
              <a:t>❌  Cons</a:t>
            </a:r>
            <a:endParaRPr lang="en-US" sz="1300" dirty="0"/>
          </a:p>
        </p:txBody>
      </p:sp>
      <p:sp>
        <p:nvSpPr>
          <p:cNvPr id="13" name="Text 11"/>
          <p:cNvSpPr/>
          <p:nvPr/>
        </p:nvSpPr>
        <p:spPr>
          <a:xfrm>
            <a:off x="2377440" y="2487168"/>
            <a:ext cx="1737360" cy="914400"/>
          </a:xfrm>
          <a:prstGeom prst="rect">
            <a:avLst/>
          </a:prstGeom>
          <a:noFill/>
          <a:ln/>
        </p:spPr>
        <p:txBody>
          <a:bodyPr wrap="square" lIns="0" tIns="0" rIns="0" bIns="0" rtlCol="0" anchor="ctr"/>
          <a:lstStyle/>
          <a:p>
            <a:pPr marL="342900" indent="-342900">
              <a:buSzPct val="100000"/>
              <a:buChar char="•"/>
            </a:pPr>
            <a:r>
              <a:rPr lang="en-US" sz="1050" dirty="0">
                <a:solidFill>
                  <a:srgbClr val="FFFFFF"/>
                </a:solidFill>
              </a:rPr>
              <a:t>Zero isolation</a:t>
            </a:r>
            <a:endParaRPr lang="en-US" sz="1050" dirty="0"/>
          </a:p>
          <a:p>
            <a:pPr marL="342900" indent="-342900">
              <a:buSzPct val="100000"/>
              <a:buChar char="•"/>
            </a:pPr>
            <a:r>
              <a:rPr lang="en-US" sz="1050" dirty="0">
                <a:solidFill>
                  <a:srgbClr val="FFFFFF"/>
                </a:solidFill>
              </a:rPr>
              <a:t>Port conflicts possible</a:t>
            </a:r>
            <a:endParaRPr lang="en-US" sz="1050" dirty="0"/>
          </a:p>
          <a:p>
            <a:pPr marL="342900" indent="-342900">
              <a:buSzPct val="100000"/>
              <a:buChar char="•"/>
            </a:pPr>
            <a:r>
              <a:rPr lang="en-US" sz="1050" dirty="0">
                <a:solidFill>
                  <a:srgbClr val="FFFFFF"/>
                </a:solidFill>
              </a:rPr>
              <a:t>Linux-only feature</a:t>
            </a:r>
            <a:endParaRPr lang="en-US" sz="1050" dirty="0"/>
          </a:p>
        </p:txBody>
      </p:sp>
      <p:sp>
        <p:nvSpPr>
          <p:cNvPr id="14" name="Shape 12"/>
          <p:cNvSpPr/>
          <p:nvPr/>
        </p:nvSpPr>
        <p:spPr>
          <a:xfrm>
            <a:off x="274320" y="3611880"/>
            <a:ext cx="3931920" cy="868680"/>
          </a:xfrm>
          <a:prstGeom prst="rect">
            <a:avLst/>
          </a:prstGeom>
          <a:solidFill>
            <a:srgbClr val="0F2942"/>
          </a:solidFill>
          <a:ln w="12700">
            <a:solidFill>
              <a:srgbClr val="F97316"/>
            </a:solidFill>
            <a:prstDash val="solid"/>
          </a:ln>
        </p:spPr>
      </p:sp>
      <p:sp>
        <p:nvSpPr>
          <p:cNvPr id="15" name="Text 13"/>
          <p:cNvSpPr/>
          <p:nvPr/>
        </p:nvSpPr>
        <p:spPr>
          <a:xfrm>
            <a:off x="411480" y="3675888"/>
            <a:ext cx="3657600" cy="731520"/>
          </a:xfrm>
          <a:prstGeom prst="rect">
            <a:avLst/>
          </a:prstGeom>
          <a:noFill/>
          <a:ln/>
        </p:spPr>
        <p:txBody>
          <a:bodyPr wrap="square" lIns="0" tIns="0" rIns="0" bIns="0" rtlCol="0" anchor="ctr"/>
          <a:lstStyle/>
          <a:p>
            <a:pPr indent="0" marL="0">
              <a:buNone/>
            </a:pPr>
            <a:r>
              <a:rPr lang="en-US" sz="1100" dirty="0">
                <a:solidFill>
                  <a:srgbClr val="FFFFFF"/>
                </a:solidFill>
              </a:rPr>
              <a:t>🎯  Use When: Network performance is critical (high-throughput proxies, monitoring agents, network tooling). NOT for production web apps.</a:t>
            </a:r>
            <a:endParaRPr lang="en-US" sz="1100" dirty="0"/>
          </a:p>
        </p:txBody>
      </p:sp>
      <p:sp>
        <p:nvSpPr>
          <p:cNvPr id="16" name="Shape 14"/>
          <p:cNvSpPr/>
          <p:nvPr/>
        </p:nvSpPr>
        <p:spPr>
          <a:xfrm>
            <a:off x="4754880" y="777240"/>
            <a:ext cx="4114800" cy="457200"/>
          </a:xfrm>
          <a:prstGeom prst="rect">
            <a:avLst/>
          </a:prstGeom>
          <a:solidFill>
            <a:srgbClr val="1E3A4A"/>
          </a:solidFill>
          <a:ln w="12700">
            <a:solidFill>
              <a:srgbClr val="06B6D4"/>
            </a:solidFill>
            <a:prstDash val="solid"/>
          </a:ln>
        </p:spPr>
      </p:sp>
      <p:sp>
        <p:nvSpPr>
          <p:cNvPr id="17" name="Text 15"/>
          <p:cNvSpPr/>
          <p:nvPr/>
        </p:nvSpPr>
        <p:spPr>
          <a:xfrm>
            <a:off x="4754880" y="777240"/>
            <a:ext cx="4114800" cy="457200"/>
          </a:xfrm>
          <a:prstGeom prst="rect">
            <a:avLst/>
          </a:prstGeom>
          <a:noFill/>
          <a:ln/>
        </p:spPr>
        <p:txBody>
          <a:bodyPr wrap="square" lIns="0" tIns="0" rIns="0" bIns="0" rtlCol="0" anchor="ctr"/>
          <a:lstStyle/>
          <a:p>
            <a:pPr algn="ctr" indent="0" marL="0">
              <a:buNone/>
            </a:pPr>
            <a:r>
              <a:rPr lang="en-US" sz="1200" b="1" dirty="0">
                <a:solidFill>
                  <a:srgbClr val="06B6D4"/>
                </a:solidFill>
              </a:rPr>
              <a:t>🌐  Internet / External Traffic</a:t>
            </a:r>
            <a:endParaRPr lang="en-US" sz="1200" dirty="0"/>
          </a:p>
        </p:txBody>
      </p:sp>
      <p:sp>
        <p:nvSpPr>
          <p:cNvPr id="18" name="Text 16"/>
          <p:cNvSpPr/>
          <p:nvPr/>
        </p:nvSpPr>
        <p:spPr>
          <a:xfrm>
            <a:off x="5943600" y="1280160"/>
            <a:ext cx="2286000" cy="274320"/>
          </a:xfrm>
          <a:prstGeom prst="rect">
            <a:avLst/>
          </a:prstGeom>
          <a:noFill/>
          <a:ln/>
        </p:spPr>
        <p:txBody>
          <a:bodyPr wrap="square" lIns="0" tIns="0" rIns="0" bIns="0" rtlCol="0" anchor="ctr"/>
          <a:lstStyle/>
          <a:p>
            <a:pPr algn="ctr" indent="0" marL="0">
              <a:buNone/>
            </a:pPr>
            <a:r>
              <a:rPr lang="en-US" sz="1100" dirty="0">
                <a:solidFill>
                  <a:srgbClr val="F97316"/>
                </a:solidFill>
              </a:rPr>
              <a:t>↓ Direct access</a:t>
            </a:r>
            <a:endParaRPr lang="en-US" sz="1100" dirty="0"/>
          </a:p>
        </p:txBody>
      </p:sp>
      <p:sp>
        <p:nvSpPr>
          <p:cNvPr id="19" name="Shape 17"/>
          <p:cNvSpPr/>
          <p:nvPr/>
        </p:nvSpPr>
        <p:spPr>
          <a:xfrm>
            <a:off x="4754880" y="1600200"/>
            <a:ext cx="4114800" cy="2743200"/>
          </a:xfrm>
          <a:prstGeom prst="rect">
            <a:avLst/>
          </a:prstGeom>
          <a:solidFill>
            <a:srgbClr val="132337"/>
          </a:solidFill>
          <a:ln w="25400">
            <a:solidFill>
              <a:srgbClr val="F97316"/>
            </a:solidFill>
            <a:prstDash val="solid"/>
          </a:ln>
        </p:spPr>
      </p:sp>
      <p:sp>
        <p:nvSpPr>
          <p:cNvPr id="20" name="Text 18"/>
          <p:cNvSpPr/>
          <p:nvPr/>
        </p:nvSpPr>
        <p:spPr>
          <a:xfrm>
            <a:off x="4892040" y="1664208"/>
            <a:ext cx="3840480" cy="347472"/>
          </a:xfrm>
          <a:prstGeom prst="rect">
            <a:avLst/>
          </a:prstGeom>
          <a:noFill/>
          <a:ln/>
        </p:spPr>
        <p:txBody>
          <a:bodyPr wrap="square" lIns="0" tIns="0" rIns="0" bIns="0" rtlCol="0" anchor="ctr"/>
          <a:lstStyle/>
          <a:p>
            <a:pPr indent="0" marL="0">
              <a:buNone/>
            </a:pPr>
            <a:r>
              <a:rPr lang="en-US" sz="1300" b="1" dirty="0">
                <a:solidFill>
                  <a:srgbClr val="F97316"/>
                </a:solidFill>
              </a:rPr>
              <a:t>🖥️  Host Machine</a:t>
            </a:r>
            <a:endParaRPr lang="en-US" sz="1300" dirty="0"/>
          </a:p>
        </p:txBody>
      </p:sp>
      <p:sp>
        <p:nvSpPr>
          <p:cNvPr id="21" name="Text 19"/>
          <p:cNvSpPr/>
          <p:nvPr/>
        </p:nvSpPr>
        <p:spPr>
          <a:xfrm>
            <a:off x="4892040" y="1993392"/>
            <a:ext cx="3840480" cy="274320"/>
          </a:xfrm>
          <a:prstGeom prst="rect">
            <a:avLst/>
          </a:prstGeom>
          <a:noFill/>
          <a:ln/>
        </p:spPr>
        <p:txBody>
          <a:bodyPr wrap="square" lIns="0" tIns="0" rIns="0" bIns="0" rtlCol="0" anchor="ctr"/>
          <a:lstStyle/>
          <a:p>
            <a:pPr indent="0" marL="0">
              <a:buNone/>
            </a:pPr>
            <a:r>
              <a:rPr lang="en-US" sz="1100" dirty="0">
                <a:solidFill>
                  <a:srgbClr val="94A3B8"/>
                </a:solidFill>
              </a:rPr>
              <a:t>eth0: 192.168.1.10</a:t>
            </a:r>
            <a:endParaRPr lang="en-US" sz="1100" dirty="0"/>
          </a:p>
        </p:txBody>
      </p:sp>
      <p:sp>
        <p:nvSpPr>
          <p:cNvPr id="22" name="Shape 20"/>
          <p:cNvSpPr/>
          <p:nvPr/>
        </p:nvSpPr>
        <p:spPr>
          <a:xfrm>
            <a:off x="5029200" y="2331720"/>
            <a:ext cx="3657600" cy="1645920"/>
          </a:xfrm>
          <a:prstGeom prst="rect">
            <a:avLst/>
          </a:prstGeom>
          <a:solidFill>
            <a:srgbClr val="0F2942"/>
          </a:solidFill>
          <a:ln w="12700">
            <a:solidFill>
              <a:srgbClr val="F97316"/>
            </a:solidFill>
            <a:prstDash val="solid"/>
          </a:ln>
        </p:spPr>
      </p:sp>
      <p:sp>
        <p:nvSpPr>
          <p:cNvPr id="23" name="Text 21"/>
          <p:cNvSpPr/>
          <p:nvPr/>
        </p:nvSpPr>
        <p:spPr>
          <a:xfrm>
            <a:off x="5166360" y="2395728"/>
            <a:ext cx="3383280" cy="347472"/>
          </a:xfrm>
          <a:prstGeom prst="rect">
            <a:avLst/>
          </a:prstGeom>
          <a:noFill/>
          <a:ln/>
        </p:spPr>
        <p:txBody>
          <a:bodyPr wrap="square" lIns="0" tIns="0" rIns="0" bIns="0" rtlCol="0" anchor="ctr"/>
          <a:lstStyle/>
          <a:p>
            <a:pPr indent="0" marL="0">
              <a:buNone/>
            </a:pPr>
            <a:r>
              <a:rPr lang="en-US" sz="1200" b="1" dirty="0">
                <a:solidFill>
                  <a:srgbClr val="FFFFFF"/>
                </a:solidFill>
              </a:rPr>
              <a:t>Container (nginx)</a:t>
            </a:r>
            <a:endParaRPr lang="en-US" sz="1200" dirty="0"/>
          </a:p>
        </p:txBody>
      </p:sp>
      <p:sp>
        <p:nvSpPr>
          <p:cNvPr id="24" name="Text 22"/>
          <p:cNvSpPr/>
          <p:nvPr/>
        </p:nvSpPr>
        <p:spPr>
          <a:xfrm>
            <a:off x="5166360" y="2724912"/>
            <a:ext cx="3383280" cy="274320"/>
          </a:xfrm>
          <a:prstGeom prst="rect">
            <a:avLst/>
          </a:prstGeom>
          <a:noFill/>
          <a:ln/>
        </p:spPr>
        <p:txBody>
          <a:bodyPr wrap="square" lIns="0" tIns="0" rIns="0" bIns="0" rtlCol="0" anchor="ctr"/>
          <a:lstStyle/>
          <a:p>
            <a:pPr indent="0" marL="0">
              <a:buNone/>
            </a:pPr>
            <a:r>
              <a:rPr lang="en-US" sz="1100" dirty="0">
                <a:solidFill>
                  <a:srgbClr val="F97316"/>
                </a:solidFill>
              </a:rPr>
              <a:t>Uses host's eth0 directly</a:t>
            </a:r>
            <a:endParaRPr lang="en-US" sz="1100" dirty="0"/>
          </a:p>
        </p:txBody>
      </p:sp>
      <p:sp>
        <p:nvSpPr>
          <p:cNvPr id="25" name="Text 23"/>
          <p:cNvSpPr/>
          <p:nvPr/>
        </p:nvSpPr>
        <p:spPr>
          <a:xfrm>
            <a:off x="5166360" y="3017520"/>
            <a:ext cx="3383280" cy="731520"/>
          </a:xfrm>
          <a:prstGeom prst="rect">
            <a:avLst/>
          </a:prstGeom>
          <a:noFill/>
          <a:ln/>
        </p:spPr>
        <p:txBody>
          <a:bodyPr wrap="square" lIns="0" tIns="0" rIns="0" bIns="0" rtlCol="0" anchor="ctr"/>
          <a:lstStyle/>
          <a:p>
            <a:pPr indent="0" marL="0">
              <a:buNone/>
            </a:pPr>
            <a:r>
              <a:rPr lang="en-US" sz="1100" dirty="0">
                <a:solidFill>
                  <a:srgbClr val="94A3B8"/>
                </a:solidFill>
              </a:rPr>
              <a:t>Listening on :80 of HOST IP</a:t>
            </a:r>
            <a:endParaRPr lang="en-US" sz="1100" dirty="0"/>
          </a:p>
          <a:p>
            <a:pPr indent="0" marL="0">
              <a:buNone/>
            </a:pPr>
            <a:r>
              <a:rPr lang="en-US" sz="1100" dirty="0">
                <a:solidFill>
                  <a:srgbClr val="94A3B8"/>
                </a:solidFill>
              </a:rPr>
              <a:t>No --publish / -p flag needed!</a:t>
            </a:r>
            <a:endParaRPr lang="en-US" sz="1100" dirty="0"/>
          </a:p>
        </p:txBody>
      </p:sp>
      <p:sp>
        <p:nvSpPr>
          <p:cNvPr id="26" name="Shape 24"/>
          <p:cNvSpPr/>
          <p:nvPr/>
        </p:nvSpPr>
        <p:spPr>
          <a:xfrm>
            <a:off x="4754880" y="4434840"/>
            <a:ext cx="4114800" cy="384048"/>
          </a:xfrm>
          <a:prstGeom prst="rect">
            <a:avLst/>
          </a:prstGeom>
          <a:solidFill>
            <a:srgbClr val="0A1628"/>
          </a:solidFill>
          <a:ln w="12700">
            <a:solidFill>
              <a:srgbClr val="64748B"/>
            </a:solidFill>
            <a:prstDash val="solid"/>
          </a:ln>
        </p:spPr>
      </p:sp>
      <p:sp>
        <p:nvSpPr>
          <p:cNvPr id="27" name="Text 25"/>
          <p:cNvSpPr/>
          <p:nvPr/>
        </p:nvSpPr>
        <p:spPr>
          <a:xfrm>
            <a:off x="4892040" y="4462272"/>
            <a:ext cx="3840480" cy="329184"/>
          </a:xfrm>
          <a:prstGeom prst="rect">
            <a:avLst/>
          </a:prstGeom>
          <a:noFill/>
          <a:ln/>
        </p:spPr>
        <p:txBody>
          <a:bodyPr wrap="square" lIns="0" tIns="0" rIns="0" bIns="0" rtlCol="0" anchor="ctr"/>
          <a:lstStyle/>
          <a:p>
            <a:pPr indent="0" marL="0">
              <a:buNone/>
            </a:pPr>
            <a:r>
              <a:rPr lang="en-US" sz="1100" dirty="0">
                <a:solidFill>
                  <a:srgbClr val="22C55E"/>
                </a:solidFill>
                <a:latin typeface="Consolas" pitchFamily="34" charset="0"/>
                <a:ea typeface="Consolas" pitchFamily="34" charset="-122"/>
                <a:cs typeface="Consolas" pitchFamily="34" charset="-120"/>
              </a:rPr>
              <a:t>$ docker run --network host nginx</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Shape 1"/>
          <p:cNvSpPr/>
          <p:nvPr/>
        </p:nvSpPr>
        <p:spPr>
          <a:xfrm>
            <a:off x="0" y="0"/>
            <a:ext cx="164592" cy="5143500"/>
          </a:xfrm>
          <a:prstGeom prst="rect">
            <a:avLst/>
          </a:prstGeom>
          <a:solidFill>
            <a:srgbClr val="EF4444"/>
          </a:solidFill>
          <a:ln w="12700">
            <a:solidFill>
              <a:srgbClr val="EF4444"/>
            </a:solidFill>
            <a:prstDash val="solid"/>
          </a:ln>
        </p:spPr>
      </p:sp>
      <p:sp>
        <p:nvSpPr>
          <p:cNvPr id="4" name="Text 2"/>
          <p:cNvSpPr/>
          <p:nvPr/>
        </p:nvSpPr>
        <p:spPr>
          <a:xfrm>
            <a:off x="365760" y="91440"/>
            <a:ext cx="8229600" cy="502920"/>
          </a:xfrm>
          <a:prstGeom prst="rect">
            <a:avLst/>
          </a:prstGeom>
          <a:noFill/>
          <a:ln/>
        </p:spPr>
        <p:txBody>
          <a:bodyPr wrap="square" lIns="0" tIns="0" rIns="0" bIns="0" rtlCol="0" anchor="ctr"/>
          <a:lstStyle/>
          <a:p>
            <a:pPr indent="0" marL="0">
              <a:buNone/>
            </a:pPr>
            <a:r>
              <a:rPr lang="en-US" sz="2200" b="1" dirty="0">
                <a:solidFill>
                  <a:srgbClr val="EF4444"/>
                </a:solidFill>
                <a:latin typeface="Arial Black" pitchFamily="34" charset="0"/>
                <a:ea typeface="Arial Black" pitchFamily="34" charset="-122"/>
                <a:cs typeface="Arial Black" pitchFamily="34" charset="-120"/>
              </a:rPr>
              <a:t>🔇  NONE NETWORK</a:t>
            </a:r>
            <a:endParaRPr lang="en-US" sz="2200" dirty="0"/>
          </a:p>
        </p:txBody>
      </p:sp>
      <p:sp>
        <p:nvSpPr>
          <p:cNvPr id="5" name="Shape 3"/>
          <p:cNvSpPr/>
          <p:nvPr/>
        </p:nvSpPr>
        <p:spPr>
          <a:xfrm>
            <a:off x="274320" y="777240"/>
            <a:ext cx="8595360" cy="1005840"/>
          </a:xfrm>
          <a:prstGeom prst="rect">
            <a:avLst/>
          </a:prstGeom>
          <a:solidFill>
            <a:srgbClr val="132337"/>
          </a:solidFill>
          <a:ln w="25400">
            <a:solidFill>
              <a:srgbClr val="FCD34D"/>
            </a:solidFill>
            <a:prstDash val="solid"/>
          </a:ln>
        </p:spPr>
      </p:sp>
      <p:sp>
        <p:nvSpPr>
          <p:cNvPr id="6" name="Text 4"/>
          <p:cNvSpPr/>
          <p:nvPr/>
        </p:nvSpPr>
        <p:spPr>
          <a:xfrm>
            <a:off x="457200" y="822960"/>
            <a:ext cx="8229600" cy="347472"/>
          </a:xfrm>
          <a:prstGeom prst="rect">
            <a:avLst/>
          </a:prstGeom>
          <a:noFill/>
          <a:ln/>
        </p:spPr>
        <p:txBody>
          <a:bodyPr wrap="square" lIns="0" tIns="0" rIns="0" bIns="0" rtlCol="0" anchor="ctr"/>
          <a:lstStyle/>
          <a:p>
            <a:pPr indent="0" marL="0">
              <a:buNone/>
            </a:pPr>
            <a:r>
              <a:rPr lang="en-US" sz="1300" b="1" dirty="0">
                <a:solidFill>
                  <a:srgbClr val="FCD34D"/>
                </a:solidFill>
              </a:rPr>
              <a:t>🏠  Analogy: The Panic Room</a:t>
            </a:r>
            <a:endParaRPr lang="en-US" sz="1300" dirty="0"/>
          </a:p>
        </p:txBody>
      </p:sp>
      <p:sp>
        <p:nvSpPr>
          <p:cNvPr id="7" name="Text 5"/>
          <p:cNvSpPr/>
          <p:nvPr/>
        </p:nvSpPr>
        <p:spPr>
          <a:xfrm>
            <a:off x="457200" y="1143000"/>
            <a:ext cx="8229600" cy="548640"/>
          </a:xfrm>
          <a:prstGeom prst="rect">
            <a:avLst/>
          </a:prstGeom>
          <a:noFill/>
          <a:ln/>
        </p:spPr>
        <p:txBody>
          <a:bodyPr wrap="square" lIns="0" tIns="0" rIns="0" bIns="0" rtlCol="0" anchor="ctr"/>
          <a:lstStyle/>
          <a:p>
            <a:pPr indent="0" marL="0">
              <a:buNone/>
            </a:pPr>
            <a:r>
              <a:rPr lang="en-US" sz="1200" dirty="0">
                <a:solidFill>
                  <a:srgbClr val="94A3B8"/>
                </a:solidFill>
              </a:rPr>
              <a:t>A sealed panic room with no doors, no windows, no intercom, and no mailbox. Nothing gets in. Nothing gets out. The only communication is talking to yourself (loopback 127.0.0.1).</a:t>
            </a:r>
            <a:endParaRPr lang="en-US" sz="1200" dirty="0"/>
          </a:p>
        </p:txBody>
      </p:sp>
      <p:sp>
        <p:nvSpPr>
          <p:cNvPr id="8" name="Shape 6"/>
          <p:cNvSpPr/>
          <p:nvPr/>
        </p:nvSpPr>
        <p:spPr>
          <a:xfrm>
            <a:off x="274320" y="1920240"/>
            <a:ext cx="4114800" cy="2423160"/>
          </a:xfrm>
          <a:prstGeom prst="rect">
            <a:avLst/>
          </a:prstGeom>
          <a:solidFill>
            <a:srgbClr val="132337"/>
          </a:solidFill>
          <a:ln w="12700">
            <a:solidFill>
              <a:srgbClr val="EF4444"/>
            </a:solidFill>
            <a:prstDash val="solid"/>
          </a:ln>
        </p:spPr>
      </p:sp>
      <p:sp>
        <p:nvSpPr>
          <p:cNvPr id="9" name="Text 7"/>
          <p:cNvSpPr/>
          <p:nvPr/>
        </p:nvSpPr>
        <p:spPr>
          <a:xfrm>
            <a:off x="411480" y="1984248"/>
            <a:ext cx="3840480" cy="347472"/>
          </a:xfrm>
          <a:prstGeom prst="rect">
            <a:avLst/>
          </a:prstGeom>
          <a:noFill/>
          <a:ln/>
        </p:spPr>
        <p:txBody>
          <a:bodyPr wrap="square" lIns="0" tIns="0" rIns="0" bIns="0" rtlCol="0" anchor="ctr"/>
          <a:lstStyle/>
          <a:p>
            <a:pPr indent="0" marL="0">
              <a:buNone/>
            </a:pPr>
            <a:r>
              <a:rPr lang="en-US" sz="1300" b="1" dirty="0">
                <a:solidFill>
                  <a:srgbClr val="EF4444"/>
                </a:solidFill>
              </a:rPr>
              <a:t>⚙️  What's Available Inside</a:t>
            </a:r>
            <a:endParaRPr lang="en-US" sz="1300" dirty="0"/>
          </a:p>
        </p:txBody>
      </p:sp>
      <p:sp>
        <p:nvSpPr>
          <p:cNvPr id="10" name="Text 8"/>
          <p:cNvSpPr/>
          <p:nvPr/>
        </p:nvSpPr>
        <p:spPr>
          <a:xfrm>
            <a:off x="411480" y="2359152"/>
            <a:ext cx="3840480" cy="182880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rPr>
              <a:t>Only loopback interface (lo)</a:t>
            </a:r>
            <a:endParaRPr lang="en-US" sz="1100" dirty="0"/>
          </a:p>
          <a:p>
            <a:pPr marL="342900" indent="-342900">
              <a:buSzPct val="100000"/>
              <a:buChar char="•"/>
            </a:pPr>
            <a:r>
              <a:rPr lang="en-US" sz="1100" dirty="0">
                <a:solidFill>
                  <a:srgbClr val="FFFFFF"/>
                </a:solidFill>
              </a:rPr>
              <a:t>127.0.0.1 works (self-communication)</a:t>
            </a:r>
            <a:endParaRPr lang="en-US" sz="1100" dirty="0"/>
          </a:p>
          <a:p>
            <a:pPr marL="342900" indent="-342900">
              <a:buSzPct val="100000"/>
              <a:buChar char="•"/>
            </a:pPr>
            <a:r>
              <a:rPr lang="en-US" sz="1100" dirty="0">
                <a:solidFill>
                  <a:srgbClr val="FFFFFF"/>
                </a:solidFill>
              </a:rPr>
              <a:t>No eth0 interface</a:t>
            </a:r>
            <a:endParaRPr lang="en-US" sz="1100" dirty="0"/>
          </a:p>
          <a:p>
            <a:pPr marL="342900" indent="-342900">
              <a:buSzPct val="100000"/>
              <a:buChar char="•"/>
            </a:pPr>
            <a:r>
              <a:rPr lang="en-US" sz="1100" dirty="0">
                <a:solidFill>
                  <a:srgbClr val="FFFFFF"/>
                </a:solidFill>
              </a:rPr>
              <a:t>No DNS resolution</a:t>
            </a:r>
            <a:endParaRPr lang="en-US" sz="1100" dirty="0"/>
          </a:p>
          <a:p>
            <a:pPr marL="342900" indent="-342900">
              <a:buSzPct val="100000"/>
              <a:buChar char="•"/>
            </a:pPr>
            <a:r>
              <a:rPr lang="en-US" sz="1100" dirty="0">
                <a:solidFill>
                  <a:srgbClr val="FFFFFF"/>
                </a:solidFill>
              </a:rPr>
              <a:t>Cannot reach other containers</a:t>
            </a:r>
            <a:endParaRPr lang="en-US" sz="1100" dirty="0"/>
          </a:p>
          <a:p>
            <a:pPr marL="342900" indent="-342900">
              <a:buSzPct val="100000"/>
              <a:buChar char="•"/>
            </a:pPr>
            <a:r>
              <a:rPr lang="en-US" sz="1100" dirty="0">
                <a:solidFill>
                  <a:srgbClr val="FFFFFF"/>
                </a:solidFill>
              </a:rPr>
              <a:t>Cannot reach the internet</a:t>
            </a:r>
            <a:endParaRPr lang="en-US" sz="1100" dirty="0"/>
          </a:p>
        </p:txBody>
      </p:sp>
      <p:sp>
        <p:nvSpPr>
          <p:cNvPr id="11" name="Shape 9"/>
          <p:cNvSpPr/>
          <p:nvPr/>
        </p:nvSpPr>
        <p:spPr>
          <a:xfrm>
            <a:off x="4754880" y="1920240"/>
            <a:ext cx="4114800" cy="2423160"/>
          </a:xfrm>
          <a:prstGeom prst="rect">
            <a:avLst/>
          </a:prstGeom>
          <a:solidFill>
            <a:srgbClr val="132337"/>
          </a:solidFill>
          <a:ln w="12700">
            <a:solidFill>
              <a:srgbClr val="8B5CF6"/>
            </a:solidFill>
            <a:prstDash val="solid"/>
          </a:ln>
        </p:spPr>
      </p:sp>
      <p:sp>
        <p:nvSpPr>
          <p:cNvPr id="12" name="Text 10"/>
          <p:cNvSpPr/>
          <p:nvPr/>
        </p:nvSpPr>
        <p:spPr>
          <a:xfrm>
            <a:off x="4892040" y="1984248"/>
            <a:ext cx="3840480" cy="347472"/>
          </a:xfrm>
          <a:prstGeom prst="rect">
            <a:avLst/>
          </a:prstGeom>
          <a:noFill/>
          <a:ln/>
        </p:spPr>
        <p:txBody>
          <a:bodyPr wrap="square" lIns="0" tIns="0" rIns="0" bIns="0" rtlCol="0" anchor="ctr"/>
          <a:lstStyle/>
          <a:p>
            <a:pPr indent="0" marL="0">
              <a:buNone/>
            </a:pPr>
            <a:r>
              <a:rPr lang="en-US" sz="1300" b="1" dirty="0">
                <a:solidFill>
                  <a:srgbClr val="8B5CF6"/>
                </a:solidFill>
              </a:rPr>
              <a:t>🎯  Use Cases</a:t>
            </a:r>
            <a:endParaRPr lang="en-US" sz="1300" dirty="0"/>
          </a:p>
        </p:txBody>
      </p:sp>
      <p:sp>
        <p:nvSpPr>
          <p:cNvPr id="13" name="Text 11"/>
          <p:cNvSpPr/>
          <p:nvPr/>
        </p:nvSpPr>
        <p:spPr>
          <a:xfrm>
            <a:off x="4892040" y="2359152"/>
            <a:ext cx="3840480" cy="182880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rPr>
              <a:t>Batch data processing jobs</a:t>
            </a:r>
            <a:endParaRPr lang="en-US" sz="1100" dirty="0"/>
          </a:p>
          <a:p>
            <a:pPr marL="342900" indent="-342900">
              <a:buSzPct val="100000"/>
              <a:buChar char="•"/>
            </a:pPr>
            <a:r>
              <a:rPr lang="en-US" sz="1100" dirty="0">
                <a:solidFill>
                  <a:srgbClr val="FFFFFF"/>
                </a:solidFill>
              </a:rPr>
              <a:t>Cryptographic operations</a:t>
            </a:r>
            <a:endParaRPr lang="en-US" sz="1100" dirty="0"/>
          </a:p>
          <a:p>
            <a:pPr marL="342900" indent="-342900">
              <a:buSzPct val="100000"/>
              <a:buChar char="•"/>
            </a:pPr>
            <a:r>
              <a:rPr lang="en-US" sz="1100" dirty="0">
                <a:solidFill>
                  <a:srgbClr val="FFFFFF"/>
                </a:solidFill>
              </a:rPr>
              <a:t>Offline model inference</a:t>
            </a:r>
            <a:endParaRPr lang="en-US" sz="1100" dirty="0"/>
          </a:p>
          <a:p>
            <a:pPr marL="342900" indent="-342900">
              <a:buSzPct val="100000"/>
              <a:buChar char="•"/>
            </a:pPr>
            <a:r>
              <a:rPr lang="en-US" sz="1100" dirty="0">
                <a:solidFill>
                  <a:srgbClr val="FFFFFF"/>
                </a:solidFill>
              </a:rPr>
              <a:t>Security auditing containers</a:t>
            </a:r>
            <a:endParaRPr lang="en-US" sz="1100" dirty="0"/>
          </a:p>
          <a:p>
            <a:pPr marL="342900" indent="-342900">
              <a:buSzPct val="100000"/>
              <a:buChar char="•"/>
            </a:pPr>
            <a:r>
              <a:rPr lang="en-US" sz="1100" dirty="0">
                <a:solidFill>
                  <a:srgbClr val="FFFFFF"/>
                </a:solidFill>
              </a:rPr>
              <a:t>Compliance-required air-gapped tasks</a:t>
            </a:r>
            <a:endParaRPr lang="en-US" sz="1100" dirty="0"/>
          </a:p>
        </p:txBody>
      </p:sp>
      <p:sp>
        <p:nvSpPr>
          <p:cNvPr id="14" name="Shape 12"/>
          <p:cNvSpPr/>
          <p:nvPr/>
        </p:nvSpPr>
        <p:spPr>
          <a:xfrm>
            <a:off x="274320" y="4480560"/>
            <a:ext cx="8595360" cy="384048"/>
          </a:xfrm>
          <a:prstGeom prst="rect">
            <a:avLst/>
          </a:prstGeom>
          <a:solidFill>
            <a:srgbClr val="0A1628"/>
          </a:solidFill>
          <a:ln w="12700">
            <a:solidFill>
              <a:srgbClr val="64748B"/>
            </a:solidFill>
            <a:prstDash val="solid"/>
          </a:ln>
        </p:spPr>
      </p:sp>
      <p:sp>
        <p:nvSpPr>
          <p:cNvPr id="15" name="Text 13"/>
          <p:cNvSpPr/>
          <p:nvPr/>
        </p:nvSpPr>
        <p:spPr>
          <a:xfrm>
            <a:off x="457200" y="4498848"/>
            <a:ext cx="8229600" cy="347472"/>
          </a:xfrm>
          <a:prstGeom prst="rect">
            <a:avLst/>
          </a:prstGeom>
          <a:noFill/>
          <a:ln/>
        </p:spPr>
        <p:txBody>
          <a:bodyPr wrap="square" lIns="0" tIns="0" rIns="0" bIns="0" rtlCol="0" anchor="ctr"/>
          <a:lstStyle/>
          <a:p>
            <a:pPr indent="0" marL="0">
              <a:buNone/>
            </a:pPr>
            <a:r>
              <a:rPr lang="en-US" sz="1100" dirty="0">
                <a:solidFill>
                  <a:srgbClr val="22C55E"/>
                </a:solidFill>
                <a:latin typeface="Consolas" pitchFamily="34" charset="0"/>
                <a:ea typeface="Consolas" pitchFamily="34" charset="-122"/>
                <a:cs typeface="Consolas" pitchFamily="34" charset="-120"/>
              </a:rPr>
              <a:t>$ docker run --network none alpine  # Complete isolation — no network stack</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Shape 1"/>
          <p:cNvSpPr/>
          <p:nvPr/>
        </p:nvSpPr>
        <p:spPr>
          <a:xfrm>
            <a:off x="0" y="0"/>
            <a:ext cx="164592" cy="5143500"/>
          </a:xfrm>
          <a:prstGeom prst="rect">
            <a:avLst/>
          </a:prstGeom>
          <a:solidFill>
            <a:srgbClr val="8B5CF6"/>
          </a:solidFill>
          <a:ln w="12700">
            <a:solidFill>
              <a:srgbClr val="8B5CF6"/>
            </a:solidFill>
            <a:prstDash val="solid"/>
          </a:ln>
        </p:spPr>
      </p:sp>
      <p:sp>
        <p:nvSpPr>
          <p:cNvPr id="4" name="Text 2"/>
          <p:cNvSpPr/>
          <p:nvPr/>
        </p:nvSpPr>
        <p:spPr>
          <a:xfrm>
            <a:off x="365760" y="91440"/>
            <a:ext cx="8229600" cy="502920"/>
          </a:xfrm>
          <a:prstGeom prst="rect">
            <a:avLst/>
          </a:prstGeom>
          <a:noFill/>
          <a:ln/>
        </p:spPr>
        <p:txBody>
          <a:bodyPr wrap="square" lIns="0" tIns="0" rIns="0" bIns="0" rtlCol="0" anchor="ctr"/>
          <a:lstStyle/>
          <a:p>
            <a:pPr indent="0" marL="0">
              <a:buNone/>
            </a:pPr>
            <a:r>
              <a:rPr lang="en-US" sz="2200" b="1" dirty="0">
                <a:solidFill>
                  <a:srgbClr val="8B5CF6"/>
                </a:solidFill>
                <a:latin typeface="Arial Black" pitchFamily="34" charset="0"/>
                <a:ea typeface="Arial Black" pitchFamily="34" charset="-122"/>
                <a:cs typeface="Arial Black" pitchFamily="34" charset="-120"/>
              </a:rPr>
              <a:t>🏠  MACVLAN NETWORK</a:t>
            </a:r>
            <a:endParaRPr lang="en-US" sz="2200" dirty="0"/>
          </a:p>
        </p:txBody>
      </p:sp>
      <p:sp>
        <p:nvSpPr>
          <p:cNvPr id="5" name="Shape 3"/>
          <p:cNvSpPr/>
          <p:nvPr/>
        </p:nvSpPr>
        <p:spPr>
          <a:xfrm>
            <a:off x="274320" y="777240"/>
            <a:ext cx="8595360" cy="1051560"/>
          </a:xfrm>
          <a:prstGeom prst="rect">
            <a:avLst/>
          </a:prstGeom>
          <a:solidFill>
            <a:srgbClr val="132337"/>
          </a:solidFill>
          <a:ln w="25400">
            <a:solidFill>
              <a:srgbClr val="FCD34D"/>
            </a:solidFill>
            <a:prstDash val="solid"/>
          </a:ln>
        </p:spPr>
      </p:sp>
      <p:sp>
        <p:nvSpPr>
          <p:cNvPr id="6" name="Text 4"/>
          <p:cNvSpPr/>
          <p:nvPr/>
        </p:nvSpPr>
        <p:spPr>
          <a:xfrm>
            <a:off x="457200" y="822960"/>
            <a:ext cx="8229600" cy="347472"/>
          </a:xfrm>
          <a:prstGeom prst="rect">
            <a:avLst/>
          </a:prstGeom>
          <a:noFill/>
          <a:ln/>
        </p:spPr>
        <p:txBody>
          <a:bodyPr wrap="square" lIns="0" tIns="0" rIns="0" bIns="0" rtlCol="0" anchor="ctr"/>
          <a:lstStyle/>
          <a:p>
            <a:pPr indent="0" marL="0">
              <a:buNone/>
            </a:pPr>
            <a:r>
              <a:rPr lang="en-US" sz="1300" b="1" dirty="0">
                <a:solidFill>
                  <a:srgbClr val="FCD34D"/>
                </a:solidFill>
              </a:rPr>
              <a:t>🏠  Analogy: Private Driveway</a:t>
            </a:r>
            <a:endParaRPr lang="en-US" sz="1300" dirty="0"/>
          </a:p>
        </p:txBody>
      </p:sp>
      <p:sp>
        <p:nvSpPr>
          <p:cNvPr id="7" name="Text 5"/>
          <p:cNvSpPr/>
          <p:nvPr/>
        </p:nvSpPr>
        <p:spPr>
          <a:xfrm>
            <a:off x="457200" y="1170432"/>
            <a:ext cx="8229600" cy="548640"/>
          </a:xfrm>
          <a:prstGeom prst="rect">
            <a:avLst/>
          </a:prstGeom>
          <a:noFill/>
          <a:ln/>
        </p:spPr>
        <p:txBody>
          <a:bodyPr wrap="square" lIns="0" tIns="0" rIns="0" bIns="0" rtlCol="0" anchor="ctr"/>
          <a:lstStyle/>
          <a:p>
            <a:pPr indent="0" marL="0">
              <a:buNone/>
            </a:pPr>
            <a:r>
              <a:rPr lang="en-US" sz="1200" dirty="0">
                <a:solidFill>
                  <a:srgbClr val="94A3B8"/>
                </a:solidFill>
              </a:rPr>
              <a:t>Giving an apartment its own private driveway that connects directly to the main street, completely bypassing the building's front desk. The router thinks each container is a separate physical device.</a:t>
            </a:r>
            <a:endParaRPr lang="en-US" sz="1200" dirty="0"/>
          </a:p>
        </p:txBody>
      </p:sp>
      <p:sp>
        <p:nvSpPr>
          <p:cNvPr id="8" name="Shape 6"/>
          <p:cNvSpPr/>
          <p:nvPr/>
        </p:nvSpPr>
        <p:spPr>
          <a:xfrm>
            <a:off x="274320" y="1965960"/>
            <a:ext cx="3931920" cy="2514600"/>
          </a:xfrm>
          <a:prstGeom prst="rect">
            <a:avLst/>
          </a:prstGeom>
          <a:solidFill>
            <a:srgbClr val="132337"/>
          </a:solidFill>
          <a:ln w="12700">
            <a:solidFill>
              <a:srgbClr val="8B5CF6"/>
            </a:solidFill>
            <a:prstDash val="solid"/>
          </a:ln>
        </p:spPr>
      </p:sp>
      <p:sp>
        <p:nvSpPr>
          <p:cNvPr id="9" name="Text 7"/>
          <p:cNvSpPr/>
          <p:nvPr/>
        </p:nvSpPr>
        <p:spPr>
          <a:xfrm>
            <a:off x="411480" y="2029968"/>
            <a:ext cx="3657600" cy="347472"/>
          </a:xfrm>
          <a:prstGeom prst="rect">
            <a:avLst/>
          </a:prstGeom>
          <a:noFill/>
          <a:ln/>
        </p:spPr>
        <p:txBody>
          <a:bodyPr wrap="square" lIns="0" tIns="0" rIns="0" bIns="0" rtlCol="0" anchor="ctr"/>
          <a:lstStyle/>
          <a:p>
            <a:pPr indent="0" marL="0">
              <a:buNone/>
            </a:pPr>
            <a:r>
              <a:rPr lang="en-US" sz="1300" b="1" dirty="0">
                <a:solidFill>
                  <a:srgbClr val="8B5CF6"/>
                </a:solidFill>
              </a:rPr>
              <a:t>⚙️  How Macvlan Works</a:t>
            </a:r>
            <a:endParaRPr lang="en-US" sz="1300" dirty="0"/>
          </a:p>
        </p:txBody>
      </p:sp>
      <p:sp>
        <p:nvSpPr>
          <p:cNvPr id="10" name="Text 8"/>
          <p:cNvSpPr/>
          <p:nvPr/>
        </p:nvSpPr>
        <p:spPr>
          <a:xfrm>
            <a:off x="411480" y="2395728"/>
            <a:ext cx="3657600" cy="201168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rPr>
              <a:t>Each container gets a unique MAC address</a:t>
            </a:r>
            <a:endParaRPr lang="en-US" sz="1100" dirty="0"/>
          </a:p>
          <a:p>
            <a:pPr marL="342900" indent="-342900">
              <a:buSzPct val="100000"/>
              <a:buChar char="•"/>
            </a:pPr>
            <a:r>
              <a:rPr lang="en-US" sz="1100" dirty="0">
                <a:solidFill>
                  <a:srgbClr val="FFFFFF"/>
                </a:solidFill>
              </a:rPr>
              <a:t>Appears as a physical device on the LAN</a:t>
            </a:r>
            <a:endParaRPr lang="en-US" sz="1100" dirty="0"/>
          </a:p>
          <a:p>
            <a:pPr marL="342900" indent="-342900">
              <a:buSzPct val="100000"/>
              <a:buChar char="•"/>
            </a:pPr>
            <a:r>
              <a:rPr lang="en-US" sz="1100" dirty="0">
                <a:solidFill>
                  <a:srgbClr val="FFFFFF"/>
                </a:solidFill>
              </a:rPr>
              <a:t>Router assigns it a real IP (e.g. 192.168.1.50)</a:t>
            </a:r>
            <a:endParaRPr lang="en-US" sz="1100" dirty="0"/>
          </a:p>
          <a:p>
            <a:pPr marL="342900" indent="-342900">
              <a:buSzPct val="100000"/>
              <a:buChar char="•"/>
            </a:pPr>
            <a:r>
              <a:rPr lang="en-US" sz="1100" dirty="0">
                <a:solidFill>
                  <a:srgbClr val="FFFFFF"/>
                </a:solidFill>
              </a:rPr>
              <a:t>Container can be reached without port mapping</a:t>
            </a:r>
            <a:endParaRPr lang="en-US" sz="1100" dirty="0"/>
          </a:p>
          <a:p>
            <a:pPr marL="342900" indent="-342900">
              <a:buSzPct val="100000"/>
              <a:buChar char="•"/>
            </a:pPr>
            <a:r>
              <a:rPr lang="en-US" sz="1100" dirty="0">
                <a:solidFill>
                  <a:srgbClr val="FFFFFF"/>
                </a:solidFill>
              </a:rPr>
              <a:t>Needs promiscuous mode on host NIC</a:t>
            </a:r>
            <a:endParaRPr lang="en-US" sz="1100" dirty="0"/>
          </a:p>
          <a:p>
            <a:pPr marL="342900" indent="-342900">
              <a:buSzPct val="100000"/>
              <a:buChar char="•"/>
            </a:pPr>
            <a:r>
              <a:rPr lang="en-US" sz="1100" dirty="0">
                <a:solidFill>
                  <a:srgbClr val="FFFFFF"/>
                </a:solidFill>
              </a:rPr>
              <a:t>Host ↔ Container talk requires macvlan bridge</a:t>
            </a:r>
            <a:endParaRPr lang="en-US" sz="1100" dirty="0"/>
          </a:p>
        </p:txBody>
      </p:sp>
      <p:sp>
        <p:nvSpPr>
          <p:cNvPr id="11" name="Shape 9"/>
          <p:cNvSpPr/>
          <p:nvPr/>
        </p:nvSpPr>
        <p:spPr>
          <a:xfrm>
            <a:off x="4754880" y="1965960"/>
            <a:ext cx="4114800" cy="2514600"/>
          </a:xfrm>
          <a:prstGeom prst="rect">
            <a:avLst/>
          </a:prstGeom>
          <a:solidFill>
            <a:srgbClr val="132337"/>
          </a:solidFill>
          <a:ln w="12700">
            <a:solidFill>
              <a:srgbClr val="8B5CF6"/>
            </a:solidFill>
            <a:prstDash val="solid"/>
          </a:ln>
        </p:spPr>
      </p:sp>
      <p:sp>
        <p:nvSpPr>
          <p:cNvPr id="12" name="Text 10"/>
          <p:cNvSpPr/>
          <p:nvPr/>
        </p:nvSpPr>
        <p:spPr>
          <a:xfrm>
            <a:off x="4892040" y="2029968"/>
            <a:ext cx="3840480" cy="347472"/>
          </a:xfrm>
          <a:prstGeom prst="rect">
            <a:avLst/>
          </a:prstGeom>
          <a:noFill/>
          <a:ln/>
        </p:spPr>
        <p:txBody>
          <a:bodyPr wrap="square" lIns="0" tIns="0" rIns="0" bIns="0" rtlCol="0" anchor="ctr"/>
          <a:lstStyle/>
          <a:p>
            <a:pPr indent="0" marL="0">
              <a:buNone/>
            </a:pPr>
            <a:r>
              <a:rPr lang="en-US" sz="1300" b="1" dirty="0">
                <a:solidFill>
                  <a:srgbClr val="8B5CF6"/>
                </a:solidFill>
              </a:rPr>
              <a:t>Network Diagram</a:t>
            </a:r>
            <a:endParaRPr lang="en-US" sz="1300" dirty="0"/>
          </a:p>
        </p:txBody>
      </p:sp>
      <p:sp>
        <p:nvSpPr>
          <p:cNvPr id="13" name="Shape 11"/>
          <p:cNvSpPr/>
          <p:nvPr/>
        </p:nvSpPr>
        <p:spPr>
          <a:xfrm>
            <a:off x="5029200" y="2423160"/>
            <a:ext cx="3474720" cy="384048"/>
          </a:xfrm>
          <a:prstGeom prst="rect">
            <a:avLst/>
          </a:prstGeom>
          <a:solidFill>
            <a:srgbClr val="1E3A4A"/>
          </a:solidFill>
          <a:ln w="12700">
            <a:solidFill>
              <a:srgbClr val="06B6D4"/>
            </a:solidFill>
            <a:prstDash val="solid"/>
          </a:ln>
        </p:spPr>
      </p:sp>
      <p:sp>
        <p:nvSpPr>
          <p:cNvPr id="14" name="Text 12"/>
          <p:cNvSpPr/>
          <p:nvPr/>
        </p:nvSpPr>
        <p:spPr>
          <a:xfrm>
            <a:off x="5029200" y="2423160"/>
            <a:ext cx="3474720" cy="384048"/>
          </a:xfrm>
          <a:prstGeom prst="rect">
            <a:avLst/>
          </a:prstGeom>
          <a:noFill/>
          <a:ln/>
        </p:spPr>
        <p:txBody>
          <a:bodyPr wrap="square" lIns="0" tIns="0" rIns="0" bIns="0" rtlCol="0" anchor="ctr"/>
          <a:lstStyle/>
          <a:p>
            <a:pPr algn="ctr" indent="0" marL="0">
              <a:buNone/>
            </a:pPr>
            <a:r>
              <a:rPr lang="en-US" sz="1100" b="1" dirty="0">
                <a:solidFill>
                  <a:srgbClr val="06B6D4"/>
                </a:solidFill>
              </a:rPr>
              <a:t>🌐  Router / LAN  (192.168.1.0/24)</a:t>
            </a:r>
            <a:endParaRPr lang="en-US" sz="1100" dirty="0"/>
          </a:p>
        </p:txBody>
      </p:sp>
      <p:sp>
        <p:nvSpPr>
          <p:cNvPr id="15" name="Text 13"/>
          <p:cNvSpPr/>
          <p:nvPr/>
        </p:nvSpPr>
        <p:spPr>
          <a:xfrm>
            <a:off x="5760720" y="2852928"/>
            <a:ext cx="2286000" cy="256032"/>
          </a:xfrm>
          <a:prstGeom prst="rect">
            <a:avLst/>
          </a:prstGeom>
          <a:noFill/>
          <a:ln/>
        </p:spPr>
        <p:txBody>
          <a:bodyPr wrap="square" lIns="0" tIns="0" rIns="0" bIns="0" rtlCol="0" anchor="ctr"/>
          <a:lstStyle/>
          <a:p>
            <a:pPr algn="ctr" indent="0" marL="0">
              <a:buNone/>
            </a:pPr>
            <a:r>
              <a:rPr lang="en-US" sz="1000" dirty="0">
                <a:solidFill>
                  <a:srgbClr val="94A3B8"/>
                </a:solidFill>
              </a:rPr>
              <a:t>↕ Real MAC addresses</a:t>
            </a:r>
            <a:endParaRPr lang="en-US" sz="1000" dirty="0"/>
          </a:p>
        </p:txBody>
      </p:sp>
      <p:sp>
        <p:nvSpPr>
          <p:cNvPr id="16" name="Shape 14"/>
          <p:cNvSpPr/>
          <p:nvPr/>
        </p:nvSpPr>
        <p:spPr>
          <a:xfrm>
            <a:off x="5029200" y="3127248"/>
            <a:ext cx="1645920" cy="1005840"/>
          </a:xfrm>
          <a:prstGeom prst="rect">
            <a:avLst/>
          </a:prstGeom>
          <a:solidFill>
            <a:srgbClr val="0F2942"/>
          </a:solidFill>
          <a:ln w="12700">
            <a:solidFill>
              <a:srgbClr val="8B5CF6"/>
            </a:solidFill>
            <a:prstDash val="solid"/>
          </a:ln>
        </p:spPr>
      </p:sp>
      <p:sp>
        <p:nvSpPr>
          <p:cNvPr id="17" name="Text 15"/>
          <p:cNvSpPr/>
          <p:nvPr/>
        </p:nvSpPr>
        <p:spPr>
          <a:xfrm>
            <a:off x="5029200" y="3182112"/>
            <a:ext cx="1645920" cy="292608"/>
          </a:xfrm>
          <a:prstGeom prst="rect">
            <a:avLst/>
          </a:prstGeom>
          <a:noFill/>
          <a:ln/>
        </p:spPr>
        <p:txBody>
          <a:bodyPr wrap="square" lIns="0" tIns="0" rIns="0" bIns="0" rtlCol="0" anchor="ctr"/>
          <a:lstStyle/>
          <a:p>
            <a:pPr algn="ctr" indent="0" marL="0">
              <a:buNone/>
            </a:pPr>
            <a:r>
              <a:rPr lang="en-US" sz="1000" b="1" dirty="0">
                <a:solidFill>
                  <a:srgbClr val="FFFFFF"/>
                </a:solidFill>
              </a:rPr>
              <a:t>container1</a:t>
            </a:r>
            <a:endParaRPr lang="en-US" sz="1000" dirty="0"/>
          </a:p>
        </p:txBody>
      </p:sp>
      <p:sp>
        <p:nvSpPr>
          <p:cNvPr id="18" name="Text 16"/>
          <p:cNvSpPr/>
          <p:nvPr/>
        </p:nvSpPr>
        <p:spPr>
          <a:xfrm>
            <a:off x="5029200" y="3493008"/>
            <a:ext cx="1645920" cy="228600"/>
          </a:xfrm>
          <a:prstGeom prst="rect">
            <a:avLst/>
          </a:prstGeom>
          <a:noFill/>
          <a:ln/>
        </p:spPr>
        <p:txBody>
          <a:bodyPr wrap="square" lIns="0" tIns="0" rIns="0" bIns="0" rtlCol="0" anchor="ctr"/>
          <a:lstStyle/>
          <a:p>
            <a:pPr algn="ctr" indent="0" marL="0">
              <a:buNone/>
            </a:pPr>
            <a:r>
              <a:rPr lang="en-US" sz="950" dirty="0">
                <a:solidFill>
                  <a:srgbClr val="8B5CF6"/>
                </a:solidFill>
              </a:rPr>
              <a:t>192.168.1.50</a:t>
            </a:r>
            <a:endParaRPr lang="en-US" sz="950" dirty="0"/>
          </a:p>
        </p:txBody>
      </p:sp>
      <p:sp>
        <p:nvSpPr>
          <p:cNvPr id="19" name="Text 17"/>
          <p:cNvSpPr/>
          <p:nvPr/>
        </p:nvSpPr>
        <p:spPr>
          <a:xfrm>
            <a:off x="5029200" y="3730752"/>
            <a:ext cx="1645920" cy="228600"/>
          </a:xfrm>
          <a:prstGeom prst="rect">
            <a:avLst/>
          </a:prstGeom>
          <a:noFill/>
          <a:ln/>
        </p:spPr>
        <p:txBody>
          <a:bodyPr wrap="square" lIns="0" tIns="0" rIns="0" bIns="0" rtlCol="0" anchor="ctr"/>
          <a:lstStyle/>
          <a:p>
            <a:pPr algn="ctr" indent="0" marL="0">
              <a:buNone/>
            </a:pPr>
            <a:r>
              <a:rPr lang="en-US" sz="900" dirty="0">
                <a:solidFill>
                  <a:srgbClr val="94A3B8"/>
                </a:solidFill>
              </a:rPr>
              <a:t>Own MAC addr</a:t>
            </a:r>
            <a:endParaRPr lang="en-US" sz="900" dirty="0"/>
          </a:p>
        </p:txBody>
      </p:sp>
      <p:sp>
        <p:nvSpPr>
          <p:cNvPr id="20" name="Shape 18"/>
          <p:cNvSpPr/>
          <p:nvPr/>
        </p:nvSpPr>
        <p:spPr>
          <a:xfrm>
            <a:off x="6858000" y="3127248"/>
            <a:ext cx="1645920" cy="1005840"/>
          </a:xfrm>
          <a:prstGeom prst="rect">
            <a:avLst/>
          </a:prstGeom>
          <a:solidFill>
            <a:srgbClr val="0F2942"/>
          </a:solidFill>
          <a:ln w="12700">
            <a:solidFill>
              <a:srgbClr val="8B5CF6"/>
            </a:solidFill>
            <a:prstDash val="solid"/>
          </a:ln>
        </p:spPr>
      </p:sp>
      <p:sp>
        <p:nvSpPr>
          <p:cNvPr id="21" name="Text 19"/>
          <p:cNvSpPr/>
          <p:nvPr/>
        </p:nvSpPr>
        <p:spPr>
          <a:xfrm>
            <a:off x="6858000" y="3182112"/>
            <a:ext cx="1645920" cy="292608"/>
          </a:xfrm>
          <a:prstGeom prst="rect">
            <a:avLst/>
          </a:prstGeom>
          <a:noFill/>
          <a:ln/>
        </p:spPr>
        <p:txBody>
          <a:bodyPr wrap="square" lIns="0" tIns="0" rIns="0" bIns="0" rtlCol="0" anchor="ctr"/>
          <a:lstStyle/>
          <a:p>
            <a:pPr algn="ctr" indent="0" marL="0">
              <a:buNone/>
            </a:pPr>
            <a:r>
              <a:rPr lang="en-US" sz="1000" b="1" dirty="0">
                <a:solidFill>
                  <a:srgbClr val="FFFFFF"/>
                </a:solidFill>
              </a:rPr>
              <a:t>container2</a:t>
            </a:r>
            <a:endParaRPr lang="en-US" sz="1000" dirty="0"/>
          </a:p>
        </p:txBody>
      </p:sp>
      <p:sp>
        <p:nvSpPr>
          <p:cNvPr id="22" name="Text 20"/>
          <p:cNvSpPr/>
          <p:nvPr/>
        </p:nvSpPr>
        <p:spPr>
          <a:xfrm>
            <a:off x="6858000" y="3493008"/>
            <a:ext cx="1645920" cy="228600"/>
          </a:xfrm>
          <a:prstGeom prst="rect">
            <a:avLst/>
          </a:prstGeom>
          <a:noFill/>
          <a:ln/>
        </p:spPr>
        <p:txBody>
          <a:bodyPr wrap="square" lIns="0" tIns="0" rIns="0" bIns="0" rtlCol="0" anchor="ctr"/>
          <a:lstStyle/>
          <a:p>
            <a:pPr algn="ctr" indent="0" marL="0">
              <a:buNone/>
            </a:pPr>
            <a:r>
              <a:rPr lang="en-US" sz="950" dirty="0">
                <a:solidFill>
                  <a:srgbClr val="8B5CF6"/>
                </a:solidFill>
              </a:rPr>
              <a:t>192.168.1.51</a:t>
            </a:r>
            <a:endParaRPr lang="en-US" sz="950" dirty="0"/>
          </a:p>
        </p:txBody>
      </p:sp>
      <p:sp>
        <p:nvSpPr>
          <p:cNvPr id="23" name="Text 21"/>
          <p:cNvSpPr/>
          <p:nvPr/>
        </p:nvSpPr>
        <p:spPr>
          <a:xfrm>
            <a:off x="6858000" y="3730752"/>
            <a:ext cx="1645920" cy="228600"/>
          </a:xfrm>
          <a:prstGeom prst="rect">
            <a:avLst/>
          </a:prstGeom>
          <a:noFill/>
          <a:ln/>
        </p:spPr>
        <p:txBody>
          <a:bodyPr wrap="square" lIns="0" tIns="0" rIns="0" bIns="0" rtlCol="0" anchor="ctr"/>
          <a:lstStyle/>
          <a:p>
            <a:pPr algn="ctr" indent="0" marL="0">
              <a:buNone/>
            </a:pPr>
            <a:r>
              <a:rPr lang="en-US" sz="900" dirty="0">
                <a:solidFill>
                  <a:srgbClr val="94A3B8"/>
                </a:solidFill>
              </a:rPr>
              <a:t>Own MAC addr</a:t>
            </a:r>
            <a:endParaRPr lang="en-US" sz="900" dirty="0"/>
          </a:p>
        </p:txBody>
      </p:sp>
      <p:sp>
        <p:nvSpPr>
          <p:cNvPr id="24" name="Shape 22"/>
          <p:cNvSpPr/>
          <p:nvPr/>
        </p:nvSpPr>
        <p:spPr>
          <a:xfrm>
            <a:off x="274320" y="4572000"/>
            <a:ext cx="8595360" cy="320040"/>
          </a:xfrm>
          <a:prstGeom prst="rect">
            <a:avLst/>
          </a:prstGeom>
          <a:solidFill>
            <a:srgbClr val="0A1628"/>
          </a:solidFill>
          <a:ln w="12700">
            <a:solidFill>
              <a:srgbClr val="64748B"/>
            </a:solidFill>
            <a:prstDash val="solid"/>
          </a:ln>
        </p:spPr>
      </p:sp>
      <p:sp>
        <p:nvSpPr>
          <p:cNvPr id="25" name="Text 23"/>
          <p:cNvSpPr/>
          <p:nvPr/>
        </p:nvSpPr>
        <p:spPr>
          <a:xfrm>
            <a:off x="457200" y="4590288"/>
            <a:ext cx="8229600" cy="274320"/>
          </a:xfrm>
          <a:prstGeom prst="rect">
            <a:avLst/>
          </a:prstGeom>
          <a:noFill/>
          <a:ln/>
        </p:spPr>
        <p:txBody>
          <a:bodyPr wrap="square" lIns="0" tIns="0" rIns="0" bIns="0" rtlCol="0" anchor="ctr"/>
          <a:lstStyle/>
          <a:p>
            <a:pPr indent="0" marL="0">
              <a:buNone/>
            </a:pPr>
            <a:r>
              <a:rPr lang="en-US" sz="950" dirty="0">
                <a:solidFill>
                  <a:srgbClr val="22C55E"/>
                </a:solidFill>
                <a:latin typeface="Consolas" pitchFamily="34" charset="0"/>
                <a:ea typeface="Consolas" pitchFamily="34" charset="-122"/>
                <a:cs typeface="Consolas" pitchFamily="34" charset="-120"/>
              </a:rPr>
              <a:t>$ docker network create -d macvlan --subnet=192.168.1.0/24 --gateway=192.168.1.1 -o parent=eth0 macnet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Shape 1"/>
          <p:cNvSpPr/>
          <p:nvPr/>
        </p:nvSpPr>
        <p:spPr>
          <a:xfrm>
            <a:off x="0" y="0"/>
            <a:ext cx="164592" cy="5143500"/>
          </a:xfrm>
          <a:prstGeom prst="rect">
            <a:avLst/>
          </a:prstGeom>
          <a:solidFill>
            <a:srgbClr val="22C55E"/>
          </a:solidFill>
          <a:ln w="12700">
            <a:solidFill>
              <a:srgbClr val="22C55E"/>
            </a:solidFill>
            <a:prstDash val="solid"/>
          </a:ln>
        </p:spPr>
      </p:sp>
      <p:sp>
        <p:nvSpPr>
          <p:cNvPr id="4" name="Text 2"/>
          <p:cNvSpPr/>
          <p:nvPr/>
        </p:nvSpPr>
        <p:spPr>
          <a:xfrm>
            <a:off x="365760" y="91440"/>
            <a:ext cx="8229600" cy="502920"/>
          </a:xfrm>
          <a:prstGeom prst="rect">
            <a:avLst/>
          </a:prstGeom>
          <a:noFill/>
          <a:ln/>
        </p:spPr>
        <p:txBody>
          <a:bodyPr wrap="square" lIns="0" tIns="0" rIns="0" bIns="0" rtlCol="0" anchor="ctr"/>
          <a:lstStyle/>
          <a:p>
            <a:pPr indent="0" marL="0">
              <a:buNone/>
            </a:pPr>
            <a:r>
              <a:rPr lang="en-US" sz="2200" b="1" dirty="0">
                <a:solidFill>
                  <a:srgbClr val="22C55E"/>
                </a:solidFill>
                <a:latin typeface="Arial Black" pitchFamily="34" charset="0"/>
                <a:ea typeface="Arial Black" pitchFamily="34" charset="-122"/>
                <a:cs typeface="Arial Black" pitchFamily="34" charset="-120"/>
              </a:rPr>
              <a:t>🌐  OVERLAY NETWORK</a:t>
            </a:r>
            <a:endParaRPr lang="en-US" sz="2200" dirty="0"/>
          </a:p>
        </p:txBody>
      </p:sp>
      <p:sp>
        <p:nvSpPr>
          <p:cNvPr id="5" name="Shape 3"/>
          <p:cNvSpPr/>
          <p:nvPr/>
        </p:nvSpPr>
        <p:spPr>
          <a:xfrm>
            <a:off x="274320" y="777240"/>
            <a:ext cx="8595360" cy="1051560"/>
          </a:xfrm>
          <a:prstGeom prst="rect">
            <a:avLst/>
          </a:prstGeom>
          <a:solidFill>
            <a:srgbClr val="132337"/>
          </a:solidFill>
          <a:ln w="25400">
            <a:solidFill>
              <a:srgbClr val="FCD34D"/>
            </a:solidFill>
            <a:prstDash val="solid"/>
          </a:ln>
        </p:spPr>
      </p:sp>
      <p:sp>
        <p:nvSpPr>
          <p:cNvPr id="6" name="Text 4"/>
          <p:cNvSpPr/>
          <p:nvPr/>
        </p:nvSpPr>
        <p:spPr>
          <a:xfrm>
            <a:off x="457200" y="822960"/>
            <a:ext cx="8229600" cy="347472"/>
          </a:xfrm>
          <a:prstGeom prst="rect">
            <a:avLst/>
          </a:prstGeom>
          <a:noFill/>
          <a:ln/>
        </p:spPr>
        <p:txBody>
          <a:bodyPr wrap="square" lIns="0" tIns="0" rIns="0" bIns="0" rtlCol="0" anchor="ctr"/>
          <a:lstStyle/>
          <a:p>
            <a:pPr indent="0" marL="0">
              <a:buNone/>
            </a:pPr>
            <a:r>
              <a:rPr lang="en-US" sz="1300" b="1" dirty="0">
                <a:solidFill>
                  <a:srgbClr val="FCD34D"/>
                </a:solidFill>
              </a:rPr>
              <a:t>🏢  Analogy: Multi-Building Complex with Tunnels</a:t>
            </a:r>
            <a:endParaRPr lang="en-US" sz="1300" dirty="0"/>
          </a:p>
        </p:txBody>
      </p:sp>
      <p:sp>
        <p:nvSpPr>
          <p:cNvPr id="7" name="Text 5"/>
          <p:cNvSpPr/>
          <p:nvPr/>
        </p:nvSpPr>
        <p:spPr>
          <a:xfrm>
            <a:off x="457200" y="1170432"/>
            <a:ext cx="8229600" cy="548640"/>
          </a:xfrm>
          <a:prstGeom prst="rect">
            <a:avLst/>
          </a:prstGeom>
          <a:noFill/>
          <a:ln/>
        </p:spPr>
        <p:txBody>
          <a:bodyPr wrap="square" lIns="0" tIns="0" rIns="0" bIns="0" rtlCol="0" anchor="ctr"/>
          <a:lstStyle/>
          <a:p>
            <a:pPr indent="0" marL="0">
              <a:buNone/>
            </a:pPr>
            <a:r>
              <a:rPr lang="en-US" sz="1200" dirty="0">
                <a:solidFill>
                  <a:srgbClr val="94A3B8"/>
                </a:solidFill>
              </a:rPr>
              <a:t>Multiple apartment buildings (hosts) connected by underground tunnels (VXLAN). Tenants in Building A can call tenants in Building B using only their apartment name — without knowing which building they're in.</a:t>
            </a:r>
            <a:endParaRPr lang="en-US" sz="1200" dirty="0"/>
          </a:p>
        </p:txBody>
      </p:sp>
      <p:sp>
        <p:nvSpPr>
          <p:cNvPr id="8" name="Shape 6"/>
          <p:cNvSpPr/>
          <p:nvPr/>
        </p:nvSpPr>
        <p:spPr>
          <a:xfrm>
            <a:off x="274320" y="1965960"/>
            <a:ext cx="3931920" cy="2514600"/>
          </a:xfrm>
          <a:prstGeom prst="rect">
            <a:avLst/>
          </a:prstGeom>
          <a:solidFill>
            <a:srgbClr val="132337"/>
          </a:solidFill>
          <a:ln w="12700">
            <a:solidFill>
              <a:srgbClr val="22C55E"/>
            </a:solidFill>
            <a:prstDash val="solid"/>
          </a:ln>
        </p:spPr>
      </p:sp>
      <p:sp>
        <p:nvSpPr>
          <p:cNvPr id="9" name="Text 7"/>
          <p:cNvSpPr/>
          <p:nvPr/>
        </p:nvSpPr>
        <p:spPr>
          <a:xfrm>
            <a:off x="411480" y="2029968"/>
            <a:ext cx="3657600" cy="347472"/>
          </a:xfrm>
          <a:prstGeom prst="rect">
            <a:avLst/>
          </a:prstGeom>
          <a:noFill/>
          <a:ln/>
        </p:spPr>
        <p:txBody>
          <a:bodyPr wrap="square" lIns="0" tIns="0" rIns="0" bIns="0" rtlCol="0" anchor="ctr"/>
          <a:lstStyle/>
          <a:p>
            <a:pPr indent="0" marL="0">
              <a:buNone/>
            </a:pPr>
            <a:r>
              <a:rPr lang="en-US" sz="1300" b="1" dirty="0">
                <a:solidFill>
                  <a:srgbClr val="22C55E"/>
                </a:solidFill>
              </a:rPr>
              <a:t>⚙️  How Overlay Works</a:t>
            </a:r>
            <a:endParaRPr lang="en-US" sz="1300" dirty="0"/>
          </a:p>
        </p:txBody>
      </p:sp>
      <p:sp>
        <p:nvSpPr>
          <p:cNvPr id="10" name="Text 8"/>
          <p:cNvSpPr/>
          <p:nvPr/>
        </p:nvSpPr>
        <p:spPr>
          <a:xfrm>
            <a:off x="411480" y="2395728"/>
            <a:ext cx="3657600" cy="2011680"/>
          </a:xfrm>
          <a:prstGeom prst="rect">
            <a:avLst/>
          </a:prstGeom>
          <a:noFill/>
          <a:ln/>
        </p:spPr>
        <p:txBody>
          <a:bodyPr wrap="square" lIns="0" tIns="0" rIns="0" bIns="0" rtlCol="0" anchor="ctr"/>
          <a:lstStyle/>
          <a:p>
            <a:pPr marL="342900" indent="-342900">
              <a:buSzPct val="100000"/>
              <a:buChar char="•"/>
            </a:pPr>
            <a:r>
              <a:rPr lang="en-US" sz="1100" dirty="0">
                <a:solidFill>
                  <a:srgbClr val="FFFFFF"/>
                </a:solidFill>
              </a:rPr>
              <a:t>Uses VXLAN to encapsulate packets</a:t>
            </a:r>
            <a:endParaRPr lang="en-US" sz="1100" dirty="0"/>
          </a:p>
          <a:p>
            <a:pPr marL="342900" indent="-342900">
              <a:buSzPct val="100000"/>
              <a:buChar char="•"/>
            </a:pPr>
            <a:r>
              <a:rPr lang="en-US" sz="1100" dirty="0">
                <a:solidFill>
                  <a:srgbClr val="FFFFFF"/>
                </a:solidFill>
              </a:rPr>
              <a:t>Requires Docker Swarm or Kubernetes</a:t>
            </a:r>
            <a:endParaRPr lang="en-US" sz="1100" dirty="0"/>
          </a:p>
          <a:p>
            <a:pPr marL="342900" indent="-342900">
              <a:buSzPct val="100000"/>
              <a:buChar char="•"/>
            </a:pPr>
            <a:r>
              <a:rPr lang="en-US" sz="1100" dirty="0">
                <a:solidFill>
                  <a:srgbClr val="FFFFFF"/>
                </a:solidFill>
              </a:rPr>
              <a:t>Containers on different hosts communicate as if on same LAN</a:t>
            </a:r>
            <a:endParaRPr lang="en-US" sz="1100" dirty="0"/>
          </a:p>
          <a:p>
            <a:pPr marL="342900" indent="-342900">
              <a:buSzPct val="100000"/>
              <a:buChar char="•"/>
            </a:pPr>
            <a:r>
              <a:rPr lang="en-US" sz="1100" dirty="0">
                <a:solidFill>
                  <a:srgbClr val="FFFFFF"/>
                </a:solidFill>
              </a:rPr>
              <a:t>Built-in encrypted option (--opt encrypted)</a:t>
            </a:r>
            <a:endParaRPr lang="en-US" sz="1100" dirty="0"/>
          </a:p>
          <a:p>
            <a:pPr marL="342900" indent="-342900">
              <a:buSzPct val="100000"/>
              <a:buChar char="•"/>
            </a:pPr>
            <a:r>
              <a:rPr lang="en-US" sz="1100" dirty="0">
                <a:solidFill>
                  <a:srgbClr val="FFFFFF"/>
                </a:solidFill>
              </a:rPr>
              <a:t>Automatic load balancing via ingress routing</a:t>
            </a:r>
            <a:endParaRPr lang="en-US" sz="1100" dirty="0"/>
          </a:p>
          <a:p>
            <a:pPr marL="342900" indent="-342900">
              <a:buSzPct val="100000"/>
              <a:buChar char="•"/>
            </a:pPr>
            <a:r>
              <a:rPr lang="en-US" sz="1100" dirty="0">
                <a:solidFill>
                  <a:srgbClr val="FFFFFF"/>
                </a:solidFill>
              </a:rPr>
              <a:t>DNS-based service discovery across nodes</a:t>
            </a:r>
            <a:endParaRPr lang="en-US" sz="1100" dirty="0"/>
          </a:p>
        </p:txBody>
      </p:sp>
      <p:sp>
        <p:nvSpPr>
          <p:cNvPr id="11" name="Shape 9"/>
          <p:cNvSpPr/>
          <p:nvPr/>
        </p:nvSpPr>
        <p:spPr>
          <a:xfrm>
            <a:off x="4754880" y="1965960"/>
            <a:ext cx="4114800" cy="2514600"/>
          </a:xfrm>
          <a:prstGeom prst="rect">
            <a:avLst/>
          </a:prstGeom>
          <a:solidFill>
            <a:srgbClr val="132337"/>
          </a:solidFill>
          <a:ln w="12700">
            <a:solidFill>
              <a:srgbClr val="22C55E"/>
            </a:solidFill>
            <a:prstDash val="solid"/>
          </a:ln>
        </p:spPr>
      </p:sp>
      <p:sp>
        <p:nvSpPr>
          <p:cNvPr id="12" name="Text 10"/>
          <p:cNvSpPr/>
          <p:nvPr/>
        </p:nvSpPr>
        <p:spPr>
          <a:xfrm>
            <a:off x="4892040" y="2029968"/>
            <a:ext cx="3840480" cy="347472"/>
          </a:xfrm>
          <a:prstGeom prst="rect">
            <a:avLst/>
          </a:prstGeom>
          <a:noFill/>
          <a:ln/>
        </p:spPr>
        <p:txBody>
          <a:bodyPr wrap="square" lIns="0" tIns="0" rIns="0" bIns="0" rtlCol="0" anchor="ctr"/>
          <a:lstStyle/>
          <a:p>
            <a:pPr indent="0" marL="0">
              <a:buNone/>
            </a:pPr>
            <a:r>
              <a:rPr lang="en-US" sz="1300" b="1" dirty="0">
                <a:solidFill>
                  <a:srgbClr val="22C55E"/>
                </a:solidFill>
              </a:rPr>
              <a:t>Multi-Host Architecture</a:t>
            </a:r>
            <a:endParaRPr lang="en-US" sz="1300" dirty="0"/>
          </a:p>
        </p:txBody>
      </p:sp>
      <p:sp>
        <p:nvSpPr>
          <p:cNvPr id="13" name="Shape 11"/>
          <p:cNvSpPr/>
          <p:nvPr/>
        </p:nvSpPr>
        <p:spPr>
          <a:xfrm>
            <a:off x="4937760" y="2423160"/>
            <a:ext cx="1737360" cy="1371600"/>
          </a:xfrm>
          <a:prstGeom prst="rect">
            <a:avLst/>
          </a:prstGeom>
          <a:solidFill>
            <a:srgbClr val="0F2942"/>
          </a:solidFill>
          <a:ln w="12700">
            <a:solidFill>
              <a:srgbClr val="0E7490"/>
            </a:solidFill>
            <a:prstDash val="solid"/>
          </a:ln>
        </p:spPr>
      </p:sp>
      <p:sp>
        <p:nvSpPr>
          <p:cNvPr id="14" name="Text 12"/>
          <p:cNvSpPr/>
          <p:nvPr/>
        </p:nvSpPr>
        <p:spPr>
          <a:xfrm>
            <a:off x="4937760" y="2450592"/>
            <a:ext cx="1737360" cy="411480"/>
          </a:xfrm>
          <a:prstGeom prst="rect">
            <a:avLst/>
          </a:prstGeom>
          <a:noFill/>
          <a:ln/>
        </p:spPr>
        <p:txBody>
          <a:bodyPr wrap="square" lIns="0" tIns="0" rIns="0" bIns="0" rtlCol="0" anchor="ctr"/>
          <a:lstStyle/>
          <a:p>
            <a:pPr algn="ctr" indent="0" marL="0">
              <a:buNone/>
            </a:pPr>
            <a:r>
              <a:rPr lang="en-US" sz="1000" b="1" dirty="0">
                <a:solidFill>
                  <a:srgbClr val="FFFFFF"/>
                </a:solidFill>
              </a:rPr>
              <a:t>Host 1</a:t>
            </a:r>
            <a:endParaRPr lang="en-US" sz="1000" dirty="0"/>
          </a:p>
          <a:p>
            <a:pPr algn="ctr" indent="0" marL="0">
              <a:buNone/>
            </a:pPr>
            <a:r>
              <a:rPr lang="en-US" sz="1000" b="1" dirty="0">
                <a:solidFill>
                  <a:srgbClr val="FFFFFF"/>
                </a:solidFill>
              </a:rPr>
              <a:t>10.0.0.1</a:t>
            </a:r>
            <a:endParaRPr lang="en-US" sz="1000" dirty="0"/>
          </a:p>
        </p:txBody>
      </p:sp>
      <p:sp>
        <p:nvSpPr>
          <p:cNvPr id="15" name="Shape 13"/>
          <p:cNvSpPr/>
          <p:nvPr/>
        </p:nvSpPr>
        <p:spPr>
          <a:xfrm>
            <a:off x="5074920" y="2880360"/>
            <a:ext cx="1463040" cy="640080"/>
          </a:xfrm>
          <a:prstGeom prst="rect">
            <a:avLst/>
          </a:prstGeom>
          <a:solidFill>
            <a:srgbClr val="0D1B2A"/>
          </a:solidFill>
          <a:ln w="12700">
            <a:solidFill>
              <a:srgbClr val="22C55E"/>
            </a:solidFill>
            <a:prstDash val="solid"/>
          </a:ln>
        </p:spPr>
      </p:sp>
      <p:sp>
        <p:nvSpPr>
          <p:cNvPr id="16" name="Text 14"/>
          <p:cNvSpPr/>
          <p:nvPr/>
        </p:nvSpPr>
        <p:spPr>
          <a:xfrm>
            <a:off x="5074920" y="2907792"/>
            <a:ext cx="1463040" cy="548640"/>
          </a:xfrm>
          <a:prstGeom prst="rect">
            <a:avLst/>
          </a:prstGeom>
          <a:noFill/>
          <a:ln/>
        </p:spPr>
        <p:txBody>
          <a:bodyPr wrap="square" lIns="0" tIns="0" rIns="0" bIns="0" rtlCol="0" anchor="ctr"/>
          <a:lstStyle/>
          <a:p>
            <a:pPr algn="ctr" indent="0" marL="0">
              <a:buNone/>
            </a:pPr>
            <a:r>
              <a:rPr lang="en-US" sz="950" dirty="0">
                <a:solidFill>
                  <a:srgbClr val="22C55E"/>
                </a:solidFill>
              </a:rPr>
              <a:t>web</a:t>
            </a:r>
            <a:endParaRPr lang="en-US" sz="950" dirty="0"/>
          </a:p>
          <a:p>
            <a:pPr algn="ctr" indent="0" marL="0">
              <a:buNone/>
            </a:pPr>
            <a:r>
              <a:rPr lang="en-US" sz="950" dirty="0">
                <a:solidFill>
                  <a:srgbClr val="22C55E"/>
                </a:solidFill>
              </a:rPr>
              <a:t>10.0.2.3</a:t>
            </a:r>
            <a:endParaRPr lang="en-US" sz="950" dirty="0"/>
          </a:p>
        </p:txBody>
      </p:sp>
      <p:sp>
        <p:nvSpPr>
          <p:cNvPr id="17" name="Shape 15"/>
          <p:cNvSpPr/>
          <p:nvPr/>
        </p:nvSpPr>
        <p:spPr>
          <a:xfrm>
            <a:off x="6766560" y="2926080"/>
            <a:ext cx="502920" cy="320040"/>
          </a:xfrm>
          <a:prstGeom prst="rect">
            <a:avLst/>
          </a:prstGeom>
          <a:solidFill>
            <a:srgbClr val="132337"/>
          </a:solidFill>
          <a:ln w="12700">
            <a:solidFill>
              <a:srgbClr val="FCD34D"/>
            </a:solidFill>
            <a:prstDash val="solid"/>
          </a:ln>
        </p:spPr>
      </p:sp>
      <p:sp>
        <p:nvSpPr>
          <p:cNvPr id="18" name="Text 16"/>
          <p:cNvSpPr/>
          <p:nvPr/>
        </p:nvSpPr>
        <p:spPr>
          <a:xfrm>
            <a:off x="6766560" y="2926080"/>
            <a:ext cx="502920" cy="320040"/>
          </a:xfrm>
          <a:prstGeom prst="rect">
            <a:avLst/>
          </a:prstGeom>
          <a:noFill/>
          <a:ln/>
        </p:spPr>
        <p:txBody>
          <a:bodyPr wrap="square" lIns="0" tIns="0" rIns="0" bIns="0" rtlCol="0" anchor="ctr"/>
          <a:lstStyle/>
          <a:p>
            <a:pPr algn="ctr" indent="0" marL="0">
              <a:buNone/>
            </a:pPr>
            <a:r>
              <a:rPr lang="en-US" sz="800" b="1" dirty="0">
                <a:solidFill>
                  <a:srgbClr val="FCD34D"/>
                </a:solidFill>
              </a:rPr>
              <a:t>VXLAN</a:t>
            </a:r>
            <a:endParaRPr lang="en-US" sz="800" dirty="0"/>
          </a:p>
        </p:txBody>
      </p:sp>
      <p:sp>
        <p:nvSpPr>
          <p:cNvPr id="19" name="Shape 17"/>
          <p:cNvSpPr/>
          <p:nvPr/>
        </p:nvSpPr>
        <p:spPr>
          <a:xfrm>
            <a:off x="6675120" y="3081528"/>
            <a:ext cx="594360" cy="0"/>
          </a:xfrm>
          <a:prstGeom prst="line">
            <a:avLst/>
          </a:prstGeom>
          <a:noFill/>
          <a:ln w="25400">
            <a:solidFill>
              <a:srgbClr val="FCD34D"/>
            </a:solidFill>
            <a:prstDash val="solid"/>
          </a:ln>
        </p:spPr>
      </p:sp>
      <p:sp>
        <p:nvSpPr>
          <p:cNvPr id="20" name="Shape 18"/>
          <p:cNvSpPr/>
          <p:nvPr/>
        </p:nvSpPr>
        <p:spPr>
          <a:xfrm>
            <a:off x="7360920" y="2423160"/>
            <a:ext cx="1371600" cy="1371600"/>
          </a:xfrm>
          <a:prstGeom prst="rect">
            <a:avLst/>
          </a:prstGeom>
          <a:solidFill>
            <a:srgbClr val="0F2942"/>
          </a:solidFill>
          <a:ln w="12700">
            <a:solidFill>
              <a:srgbClr val="0E7490"/>
            </a:solidFill>
            <a:prstDash val="solid"/>
          </a:ln>
        </p:spPr>
      </p:sp>
      <p:sp>
        <p:nvSpPr>
          <p:cNvPr id="21" name="Text 19"/>
          <p:cNvSpPr/>
          <p:nvPr/>
        </p:nvSpPr>
        <p:spPr>
          <a:xfrm>
            <a:off x="7360920" y="2450592"/>
            <a:ext cx="1371600" cy="411480"/>
          </a:xfrm>
          <a:prstGeom prst="rect">
            <a:avLst/>
          </a:prstGeom>
          <a:noFill/>
          <a:ln/>
        </p:spPr>
        <p:txBody>
          <a:bodyPr wrap="square" lIns="0" tIns="0" rIns="0" bIns="0" rtlCol="0" anchor="ctr"/>
          <a:lstStyle/>
          <a:p>
            <a:pPr algn="ctr" indent="0" marL="0">
              <a:buNone/>
            </a:pPr>
            <a:r>
              <a:rPr lang="en-US" sz="1000" b="1" dirty="0">
                <a:solidFill>
                  <a:srgbClr val="FFFFFF"/>
                </a:solidFill>
              </a:rPr>
              <a:t>Host 2</a:t>
            </a:r>
            <a:endParaRPr lang="en-US" sz="1000" dirty="0"/>
          </a:p>
          <a:p>
            <a:pPr algn="ctr" indent="0" marL="0">
              <a:buNone/>
            </a:pPr>
            <a:r>
              <a:rPr lang="en-US" sz="1000" b="1" dirty="0">
                <a:solidFill>
                  <a:srgbClr val="FFFFFF"/>
                </a:solidFill>
              </a:rPr>
              <a:t>10.0.0.2</a:t>
            </a:r>
            <a:endParaRPr lang="en-US" sz="1000" dirty="0"/>
          </a:p>
        </p:txBody>
      </p:sp>
      <p:sp>
        <p:nvSpPr>
          <p:cNvPr id="22" name="Shape 20"/>
          <p:cNvSpPr/>
          <p:nvPr/>
        </p:nvSpPr>
        <p:spPr>
          <a:xfrm>
            <a:off x="7452360" y="2880360"/>
            <a:ext cx="1188720" cy="640080"/>
          </a:xfrm>
          <a:prstGeom prst="rect">
            <a:avLst/>
          </a:prstGeom>
          <a:solidFill>
            <a:srgbClr val="0D1B2A"/>
          </a:solidFill>
          <a:ln w="12700">
            <a:solidFill>
              <a:srgbClr val="22C55E"/>
            </a:solidFill>
            <a:prstDash val="solid"/>
          </a:ln>
        </p:spPr>
      </p:sp>
      <p:sp>
        <p:nvSpPr>
          <p:cNvPr id="23" name="Text 21"/>
          <p:cNvSpPr/>
          <p:nvPr/>
        </p:nvSpPr>
        <p:spPr>
          <a:xfrm>
            <a:off x="7452360" y="2907792"/>
            <a:ext cx="1188720" cy="548640"/>
          </a:xfrm>
          <a:prstGeom prst="rect">
            <a:avLst/>
          </a:prstGeom>
          <a:noFill/>
          <a:ln/>
        </p:spPr>
        <p:txBody>
          <a:bodyPr wrap="square" lIns="0" tIns="0" rIns="0" bIns="0" rtlCol="0" anchor="ctr"/>
          <a:lstStyle/>
          <a:p>
            <a:pPr algn="ctr" indent="0" marL="0">
              <a:buNone/>
            </a:pPr>
            <a:r>
              <a:rPr lang="en-US" sz="950" dirty="0">
                <a:solidFill>
                  <a:srgbClr val="22C55E"/>
                </a:solidFill>
              </a:rPr>
              <a:t>api</a:t>
            </a:r>
            <a:endParaRPr lang="en-US" sz="950" dirty="0"/>
          </a:p>
          <a:p>
            <a:pPr algn="ctr" indent="0" marL="0">
              <a:buNone/>
            </a:pPr>
            <a:r>
              <a:rPr lang="en-US" sz="950" dirty="0">
                <a:solidFill>
                  <a:srgbClr val="22C55E"/>
                </a:solidFill>
              </a:rPr>
              <a:t>10.0.2.4</a:t>
            </a:r>
            <a:endParaRPr lang="en-US" sz="950" dirty="0"/>
          </a:p>
        </p:txBody>
      </p:sp>
      <p:sp>
        <p:nvSpPr>
          <p:cNvPr id="24" name="Text 22"/>
          <p:cNvSpPr/>
          <p:nvPr/>
        </p:nvSpPr>
        <p:spPr>
          <a:xfrm>
            <a:off x="4892040" y="3950208"/>
            <a:ext cx="3840480" cy="347472"/>
          </a:xfrm>
          <a:prstGeom prst="rect">
            <a:avLst/>
          </a:prstGeom>
          <a:noFill/>
          <a:ln/>
        </p:spPr>
        <p:txBody>
          <a:bodyPr wrap="square" lIns="0" tIns="0" rIns="0" bIns="0" rtlCol="0" anchor="ctr"/>
          <a:lstStyle/>
          <a:p>
            <a:pPr indent="0" marL="0">
              <a:buNone/>
            </a:pPr>
            <a:r>
              <a:rPr lang="en-US" sz="1050" i="1" dirty="0">
                <a:solidFill>
                  <a:srgbClr val="94A3B8"/>
                </a:solidFill>
              </a:rPr>
              <a:t>web can reach api by name: http://api:5000</a:t>
            </a:r>
            <a:endParaRPr lang="en-US" sz="1050" dirty="0"/>
          </a:p>
        </p:txBody>
      </p:sp>
      <p:sp>
        <p:nvSpPr>
          <p:cNvPr id="25" name="Text 23"/>
          <p:cNvSpPr/>
          <p:nvPr/>
        </p:nvSpPr>
        <p:spPr>
          <a:xfrm>
            <a:off x="4892040" y="4251960"/>
            <a:ext cx="3840480" cy="274320"/>
          </a:xfrm>
          <a:prstGeom prst="rect">
            <a:avLst/>
          </a:prstGeom>
          <a:noFill/>
          <a:ln/>
        </p:spPr>
        <p:txBody>
          <a:bodyPr wrap="square" lIns="0" tIns="0" rIns="0" bIns="0" rtlCol="0" anchor="ctr"/>
          <a:lstStyle/>
          <a:p>
            <a:pPr indent="0" marL="0">
              <a:buNone/>
            </a:pPr>
            <a:r>
              <a:rPr lang="en-US" sz="1050" b="1" dirty="0">
                <a:solidFill>
                  <a:srgbClr val="22C55E"/>
                </a:solidFill>
              </a:rPr>
              <a:t>Even though they're on different physical hosts!</a:t>
            </a:r>
            <a:endParaRPr lang="en-US" sz="1050" dirty="0"/>
          </a:p>
        </p:txBody>
      </p:sp>
      <p:sp>
        <p:nvSpPr>
          <p:cNvPr id="26" name="Shape 24"/>
          <p:cNvSpPr/>
          <p:nvPr/>
        </p:nvSpPr>
        <p:spPr>
          <a:xfrm>
            <a:off x="274320" y="4572000"/>
            <a:ext cx="8595360" cy="320040"/>
          </a:xfrm>
          <a:prstGeom prst="rect">
            <a:avLst/>
          </a:prstGeom>
          <a:solidFill>
            <a:srgbClr val="0A1628"/>
          </a:solidFill>
          <a:ln w="12700">
            <a:solidFill>
              <a:srgbClr val="64748B"/>
            </a:solidFill>
            <a:prstDash val="solid"/>
          </a:ln>
        </p:spPr>
      </p:sp>
      <p:sp>
        <p:nvSpPr>
          <p:cNvPr id="27" name="Text 25"/>
          <p:cNvSpPr/>
          <p:nvPr/>
        </p:nvSpPr>
        <p:spPr>
          <a:xfrm>
            <a:off x="457200" y="4590288"/>
            <a:ext cx="8229600" cy="274320"/>
          </a:xfrm>
          <a:prstGeom prst="rect">
            <a:avLst/>
          </a:prstGeom>
          <a:noFill/>
          <a:ln/>
        </p:spPr>
        <p:txBody>
          <a:bodyPr wrap="square" lIns="0" tIns="0" rIns="0" bIns="0" rtlCol="0" anchor="ctr"/>
          <a:lstStyle/>
          <a:p>
            <a:pPr indent="0" marL="0">
              <a:buNone/>
            </a:pPr>
            <a:r>
              <a:rPr lang="en-US" sz="1100" dirty="0">
                <a:solidFill>
                  <a:srgbClr val="22C55E"/>
                </a:solidFill>
                <a:latin typeface="Consolas" pitchFamily="34" charset="0"/>
                <a:ea typeface="Consolas" pitchFamily="34" charset="-122"/>
                <a:cs typeface="Consolas" pitchFamily="34" charset="-120"/>
              </a:rPr>
              <a:t>$ docker network create --driver overlay --attachable my-overlay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Text 1"/>
          <p:cNvSpPr/>
          <p:nvPr/>
        </p:nvSpPr>
        <p:spPr>
          <a:xfrm>
            <a:off x="365760" y="91440"/>
            <a:ext cx="8229600" cy="502920"/>
          </a:xfrm>
          <a:prstGeom prst="rect">
            <a:avLst/>
          </a:prstGeom>
          <a:noFill/>
          <a:ln/>
        </p:spPr>
        <p:txBody>
          <a:bodyPr wrap="square" lIns="0" tIns="0" rIns="0" bIns="0" rtlCol="0" anchor="ctr"/>
          <a:lstStyle/>
          <a:p>
            <a:pPr indent="0" marL="0">
              <a:buNone/>
            </a:pPr>
            <a:r>
              <a:rPr lang="en-US" sz="2200" b="1" spc="300" kern="0" dirty="0">
                <a:solidFill>
                  <a:srgbClr val="06B6D4"/>
                </a:solidFill>
                <a:latin typeface="Arial Black" pitchFamily="34" charset="0"/>
                <a:ea typeface="Arial Black" pitchFamily="34" charset="-122"/>
                <a:cs typeface="Arial Black" pitchFamily="34" charset="-120"/>
              </a:rPr>
              <a:t>📊  COMPARISON AT A GLANCE</a:t>
            </a:r>
            <a:endParaRPr lang="en-US" sz="2200" dirty="0"/>
          </a:p>
        </p:txBody>
      </p:sp>
      <p:sp>
        <p:nvSpPr>
          <p:cNvPr id="4" name="Shape 2"/>
          <p:cNvSpPr/>
          <p:nvPr/>
        </p:nvSpPr>
        <p:spPr>
          <a:xfrm>
            <a:off x="182880" y="777240"/>
            <a:ext cx="1417320" cy="411480"/>
          </a:xfrm>
          <a:prstGeom prst="rect">
            <a:avLst/>
          </a:prstGeom>
          <a:solidFill>
            <a:srgbClr val="1A3A5C"/>
          </a:solidFill>
          <a:ln w="12700">
            <a:solidFill>
              <a:srgbClr val="0E7490"/>
            </a:solidFill>
            <a:prstDash val="solid"/>
          </a:ln>
        </p:spPr>
      </p:sp>
      <p:sp>
        <p:nvSpPr>
          <p:cNvPr id="5" name="Text 3"/>
          <p:cNvSpPr/>
          <p:nvPr/>
        </p:nvSpPr>
        <p:spPr>
          <a:xfrm>
            <a:off x="182880" y="777240"/>
            <a:ext cx="1417320" cy="411480"/>
          </a:xfrm>
          <a:prstGeom prst="rect">
            <a:avLst/>
          </a:prstGeom>
          <a:noFill/>
          <a:ln/>
        </p:spPr>
        <p:txBody>
          <a:bodyPr wrap="square" lIns="0" tIns="0" rIns="0" bIns="0" rtlCol="0" anchor="ctr"/>
          <a:lstStyle/>
          <a:p>
            <a:pPr algn="ctr" indent="0" marL="0">
              <a:buNone/>
            </a:pPr>
            <a:r>
              <a:rPr lang="en-US" sz="1100" b="1" dirty="0">
                <a:solidFill>
                  <a:srgbClr val="06B6D4"/>
                </a:solidFill>
              </a:rPr>
              <a:t>Network</a:t>
            </a:r>
            <a:endParaRPr lang="en-US" sz="1100" dirty="0"/>
          </a:p>
        </p:txBody>
      </p:sp>
      <p:sp>
        <p:nvSpPr>
          <p:cNvPr id="6" name="Shape 4"/>
          <p:cNvSpPr/>
          <p:nvPr/>
        </p:nvSpPr>
        <p:spPr>
          <a:xfrm>
            <a:off x="1645920" y="777240"/>
            <a:ext cx="1188720" cy="411480"/>
          </a:xfrm>
          <a:prstGeom prst="rect">
            <a:avLst/>
          </a:prstGeom>
          <a:solidFill>
            <a:srgbClr val="1A3A5C"/>
          </a:solidFill>
          <a:ln w="12700">
            <a:solidFill>
              <a:srgbClr val="0E7490"/>
            </a:solidFill>
            <a:prstDash val="solid"/>
          </a:ln>
        </p:spPr>
      </p:sp>
      <p:sp>
        <p:nvSpPr>
          <p:cNvPr id="7" name="Text 5"/>
          <p:cNvSpPr/>
          <p:nvPr/>
        </p:nvSpPr>
        <p:spPr>
          <a:xfrm>
            <a:off x="1645920" y="777240"/>
            <a:ext cx="1188720" cy="411480"/>
          </a:xfrm>
          <a:prstGeom prst="rect">
            <a:avLst/>
          </a:prstGeom>
          <a:noFill/>
          <a:ln/>
        </p:spPr>
        <p:txBody>
          <a:bodyPr wrap="square" lIns="0" tIns="0" rIns="0" bIns="0" rtlCol="0" anchor="ctr"/>
          <a:lstStyle/>
          <a:p>
            <a:pPr algn="ctr" indent="0" marL="0">
              <a:buNone/>
            </a:pPr>
            <a:r>
              <a:rPr lang="en-US" sz="1100" b="1" dirty="0">
                <a:solidFill>
                  <a:srgbClr val="06B6D4"/>
                </a:solidFill>
              </a:rPr>
              <a:t>Isolation</a:t>
            </a:r>
            <a:endParaRPr lang="en-US" sz="1100" dirty="0"/>
          </a:p>
        </p:txBody>
      </p:sp>
      <p:sp>
        <p:nvSpPr>
          <p:cNvPr id="8" name="Shape 6"/>
          <p:cNvSpPr/>
          <p:nvPr/>
        </p:nvSpPr>
        <p:spPr>
          <a:xfrm>
            <a:off x="2880360" y="777240"/>
            <a:ext cx="914400" cy="411480"/>
          </a:xfrm>
          <a:prstGeom prst="rect">
            <a:avLst/>
          </a:prstGeom>
          <a:solidFill>
            <a:srgbClr val="1A3A5C"/>
          </a:solidFill>
          <a:ln w="12700">
            <a:solidFill>
              <a:srgbClr val="0E7490"/>
            </a:solidFill>
            <a:prstDash val="solid"/>
          </a:ln>
        </p:spPr>
      </p:sp>
      <p:sp>
        <p:nvSpPr>
          <p:cNvPr id="9" name="Text 7"/>
          <p:cNvSpPr/>
          <p:nvPr/>
        </p:nvSpPr>
        <p:spPr>
          <a:xfrm>
            <a:off x="2880360" y="777240"/>
            <a:ext cx="914400" cy="411480"/>
          </a:xfrm>
          <a:prstGeom prst="rect">
            <a:avLst/>
          </a:prstGeom>
          <a:noFill/>
          <a:ln/>
        </p:spPr>
        <p:txBody>
          <a:bodyPr wrap="square" lIns="0" tIns="0" rIns="0" bIns="0" rtlCol="0" anchor="ctr"/>
          <a:lstStyle/>
          <a:p>
            <a:pPr algn="ctr" indent="0" marL="0">
              <a:buNone/>
            </a:pPr>
            <a:r>
              <a:rPr lang="en-US" sz="1100" b="1" dirty="0">
                <a:solidFill>
                  <a:srgbClr val="06B6D4"/>
                </a:solidFill>
              </a:rPr>
              <a:t>DNS</a:t>
            </a:r>
            <a:endParaRPr lang="en-US" sz="1100" dirty="0"/>
          </a:p>
        </p:txBody>
      </p:sp>
      <p:sp>
        <p:nvSpPr>
          <p:cNvPr id="10" name="Shape 8"/>
          <p:cNvSpPr/>
          <p:nvPr/>
        </p:nvSpPr>
        <p:spPr>
          <a:xfrm>
            <a:off x="3840480" y="777240"/>
            <a:ext cx="1280160" cy="411480"/>
          </a:xfrm>
          <a:prstGeom prst="rect">
            <a:avLst/>
          </a:prstGeom>
          <a:solidFill>
            <a:srgbClr val="1A3A5C"/>
          </a:solidFill>
          <a:ln w="12700">
            <a:solidFill>
              <a:srgbClr val="0E7490"/>
            </a:solidFill>
            <a:prstDash val="solid"/>
          </a:ln>
        </p:spPr>
      </p:sp>
      <p:sp>
        <p:nvSpPr>
          <p:cNvPr id="11" name="Text 9"/>
          <p:cNvSpPr/>
          <p:nvPr/>
        </p:nvSpPr>
        <p:spPr>
          <a:xfrm>
            <a:off x="3840480" y="777240"/>
            <a:ext cx="1280160" cy="411480"/>
          </a:xfrm>
          <a:prstGeom prst="rect">
            <a:avLst/>
          </a:prstGeom>
          <a:noFill/>
          <a:ln/>
        </p:spPr>
        <p:txBody>
          <a:bodyPr wrap="square" lIns="0" tIns="0" rIns="0" bIns="0" rtlCol="0" anchor="ctr"/>
          <a:lstStyle/>
          <a:p>
            <a:pPr algn="ctr" indent="0" marL="0">
              <a:buNone/>
            </a:pPr>
            <a:r>
              <a:rPr lang="en-US" sz="1100" b="1" dirty="0">
                <a:solidFill>
                  <a:srgbClr val="06B6D4"/>
                </a:solidFill>
              </a:rPr>
              <a:t>Port Mapping</a:t>
            </a:r>
            <a:endParaRPr lang="en-US" sz="1100" dirty="0"/>
          </a:p>
        </p:txBody>
      </p:sp>
      <p:sp>
        <p:nvSpPr>
          <p:cNvPr id="12" name="Shape 10"/>
          <p:cNvSpPr/>
          <p:nvPr/>
        </p:nvSpPr>
        <p:spPr>
          <a:xfrm>
            <a:off x="5166360" y="777240"/>
            <a:ext cx="1051560" cy="411480"/>
          </a:xfrm>
          <a:prstGeom prst="rect">
            <a:avLst/>
          </a:prstGeom>
          <a:solidFill>
            <a:srgbClr val="1A3A5C"/>
          </a:solidFill>
          <a:ln w="12700">
            <a:solidFill>
              <a:srgbClr val="0E7490"/>
            </a:solidFill>
            <a:prstDash val="solid"/>
          </a:ln>
        </p:spPr>
      </p:sp>
      <p:sp>
        <p:nvSpPr>
          <p:cNvPr id="13" name="Text 11"/>
          <p:cNvSpPr/>
          <p:nvPr/>
        </p:nvSpPr>
        <p:spPr>
          <a:xfrm>
            <a:off x="5166360" y="777240"/>
            <a:ext cx="1051560" cy="411480"/>
          </a:xfrm>
          <a:prstGeom prst="rect">
            <a:avLst/>
          </a:prstGeom>
          <a:noFill/>
          <a:ln/>
        </p:spPr>
        <p:txBody>
          <a:bodyPr wrap="square" lIns="0" tIns="0" rIns="0" bIns="0" rtlCol="0" anchor="ctr"/>
          <a:lstStyle/>
          <a:p>
            <a:pPr algn="ctr" indent="0" marL="0">
              <a:buNone/>
            </a:pPr>
            <a:r>
              <a:rPr lang="en-US" sz="1100" b="1" dirty="0">
                <a:solidFill>
                  <a:srgbClr val="06B6D4"/>
                </a:solidFill>
              </a:rPr>
              <a:t>Multi-Host</a:t>
            </a:r>
            <a:endParaRPr lang="en-US" sz="1100" dirty="0"/>
          </a:p>
        </p:txBody>
      </p:sp>
      <p:sp>
        <p:nvSpPr>
          <p:cNvPr id="14" name="Shape 12"/>
          <p:cNvSpPr/>
          <p:nvPr/>
        </p:nvSpPr>
        <p:spPr>
          <a:xfrm>
            <a:off x="6263640" y="777240"/>
            <a:ext cx="2194560" cy="411480"/>
          </a:xfrm>
          <a:prstGeom prst="rect">
            <a:avLst/>
          </a:prstGeom>
          <a:solidFill>
            <a:srgbClr val="1A3A5C"/>
          </a:solidFill>
          <a:ln w="12700">
            <a:solidFill>
              <a:srgbClr val="0E7490"/>
            </a:solidFill>
            <a:prstDash val="solid"/>
          </a:ln>
        </p:spPr>
      </p:sp>
      <p:sp>
        <p:nvSpPr>
          <p:cNvPr id="15" name="Text 13"/>
          <p:cNvSpPr/>
          <p:nvPr/>
        </p:nvSpPr>
        <p:spPr>
          <a:xfrm>
            <a:off x="6263640" y="777240"/>
            <a:ext cx="2194560" cy="411480"/>
          </a:xfrm>
          <a:prstGeom prst="rect">
            <a:avLst/>
          </a:prstGeom>
          <a:noFill/>
          <a:ln/>
        </p:spPr>
        <p:txBody>
          <a:bodyPr wrap="square" lIns="0" tIns="0" rIns="0" bIns="0" rtlCol="0" anchor="ctr"/>
          <a:lstStyle/>
          <a:p>
            <a:pPr algn="ctr" indent="0" marL="0">
              <a:buNone/>
            </a:pPr>
            <a:r>
              <a:rPr lang="en-US" sz="1100" b="1" dirty="0">
                <a:solidFill>
                  <a:srgbClr val="06B6D4"/>
                </a:solidFill>
              </a:rPr>
              <a:t>Best For</a:t>
            </a:r>
            <a:endParaRPr lang="en-US" sz="1100" dirty="0"/>
          </a:p>
        </p:txBody>
      </p:sp>
      <p:sp>
        <p:nvSpPr>
          <p:cNvPr id="16" name="Shape 14"/>
          <p:cNvSpPr/>
          <p:nvPr/>
        </p:nvSpPr>
        <p:spPr>
          <a:xfrm>
            <a:off x="182880" y="1234440"/>
            <a:ext cx="1417320" cy="658368"/>
          </a:xfrm>
          <a:prstGeom prst="rect">
            <a:avLst/>
          </a:prstGeom>
          <a:solidFill>
            <a:srgbClr val="0F2942"/>
          </a:solidFill>
          <a:ln w="25400">
            <a:solidFill>
              <a:srgbClr val="06B6D4"/>
            </a:solidFill>
            <a:prstDash val="solid"/>
          </a:ln>
        </p:spPr>
      </p:sp>
      <p:sp>
        <p:nvSpPr>
          <p:cNvPr id="17" name="Text 15"/>
          <p:cNvSpPr/>
          <p:nvPr/>
        </p:nvSpPr>
        <p:spPr>
          <a:xfrm>
            <a:off x="219456" y="1234440"/>
            <a:ext cx="1344168" cy="658368"/>
          </a:xfrm>
          <a:prstGeom prst="rect">
            <a:avLst/>
          </a:prstGeom>
          <a:noFill/>
          <a:ln/>
        </p:spPr>
        <p:txBody>
          <a:bodyPr wrap="square" lIns="0" tIns="0" rIns="0" bIns="0" rtlCol="0" anchor="ctr"/>
          <a:lstStyle/>
          <a:p>
            <a:pPr algn="ctr" indent="0" marL="0">
              <a:buNone/>
            </a:pPr>
            <a:r>
              <a:rPr lang="en-US" sz="1100" b="1" dirty="0">
                <a:solidFill>
                  <a:srgbClr val="06B6D4"/>
                </a:solidFill>
              </a:rPr>
              <a:t>🏢 Bridge</a:t>
            </a:r>
            <a:endParaRPr lang="en-US" sz="1100" dirty="0"/>
          </a:p>
        </p:txBody>
      </p:sp>
      <p:sp>
        <p:nvSpPr>
          <p:cNvPr id="18" name="Shape 16"/>
          <p:cNvSpPr/>
          <p:nvPr/>
        </p:nvSpPr>
        <p:spPr>
          <a:xfrm>
            <a:off x="1645920" y="1234440"/>
            <a:ext cx="1188720" cy="658368"/>
          </a:xfrm>
          <a:prstGeom prst="rect">
            <a:avLst/>
          </a:prstGeom>
          <a:solidFill>
            <a:srgbClr val="132337"/>
          </a:solidFill>
          <a:ln w="12700">
            <a:solidFill>
              <a:srgbClr val="64748B"/>
            </a:solidFill>
            <a:prstDash val="solid"/>
          </a:ln>
        </p:spPr>
      </p:sp>
      <p:sp>
        <p:nvSpPr>
          <p:cNvPr id="19" name="Text 17"/>
          <p:cNvSpPr/>
          <p:nvPr/>
        </p:nvSpPr>
        <p:spPr>
          <a:xfrm>
            <a:off x="1682496" y="1234440"/>
            <a:ext cx="1115568" cy="658368"/>
          </a:xfrm>
          <a:prstGeom prst="rect">
            <a:avLst/>
          </a:prstGeom>
          <a:noFill/>
          <a:ln/>
        </p:spPr>
        <p:txBody>
          <a:bodyPr wrap="square" lIns="0" tIns="0" rIns="0" bIns="0" rtlCol="0" anchor="ctr"/>
          <a:lstStyle/>
          <a:p>
            <a:pPr algn="ctr" indent="0" marL="0">
              <a:buNone/>
            </a:pPr>
            <a:r>
              <a:rPr lang="en-US" sz="1050" dirty="0">
                <a:solidFill>
                  <a:srgbClr val="FFFFFF"/>
                </a:solidFill>
              </a:rPr>
              <a:t>Medium</a:t>
            </a:r>
            <a:endParaRPr lang="en-US" sz="1050" dirty="0"/>
          </a:p>
        </p:txBody>
      </p:sp>
      <p:sp>
        <p:nvSpPr>
          <p:cNvPr id="20" name="Shape 18"/>
          <p:cNvSpPr/>
          <p:nvPr/>
        </p:nvSpPr>
        <p:spPr>
          <a:xfrm>
            <a:off x="2880360" y="1234440"/>
            <a:ext cx="914400" cy="658368"/>
          </a:xfrm>
          <a:prstGeom prst="rect">
            <a:avLst/>
          </a:prstGeom>
          <a:solidFill>
            <a:srgbClr val="132337"/>
          </a:solidFill>
          <a:ln w="12700">
            <a:solidFill>
              <a:srgbClr val="64748B"/>
            </a:solidFill>
            <a:prstDash val="solid"/>
          </a:ln>
        </p:spPr>
      </p:sp>
      <p:sp>
        <p:nvSpPr>
          <p:cNvPr id="21" name="Text 19"/>
          <p:cNvSpPr/>
          <p:nvPr/>
        </p:nvSpPr>
        <p:spPr>
          <a:xfrm>
            <a:off x="2916936" y="1234440"/>
            <a:ext cx="841248" cy="658368"/>
          </a:xfrm>
          <a:prstGeom prst="rect">
            <a:avLst/>
          </a:prstGeom>
          <a:noFill/>
          <a:ln/>
        </p:spPr>
        <p:txBody>
          <a:bodyPr wrap="square" lIns="0" tIns="0" rIns="0" bIns="0" rtlCol="0" anchor="ctr"/>
          <a:lstStyle/>
          <a:p>
            <a:pPr algn="ctr" indent="0" marL="0">
              <a:buNone/>
            </a:pPr>
            <a:r>
              <a:rPr lang="en-US" sz="1050" dirty="0">
                <a:solidFill>
                  <a:srgbClr val="22C55E"/>
                </a:solidFill>
              </a:rPr>
              <a:t>✅ Yes</a:t>
            </a:r>
            <a:endParaRPr lang="en-US" sz="1050" dirty="0"/>
          </a:p>
        </p:txBody>
      </p:sp>
      <p:sp>
        <p:nvSpPr>
          <p:cNvPr id="22" name="Shape 20"/>
          <p:cNvSpPr/>
          <p:nvPr/>
        </p:nvSpPr>
        <p:spPr>
          <a:xfrm>
            <a:off x="3840480" y="1234440"/>
            <a:ext cx="1280160" cy="658368"/>
          </a:xfrm>
          <a:prstGeom prst="rect">
            <a:avLst/>
          </a:prstGeom>
          <a:solidFill>
            <a:srgbClr val="132337"/>
          </a:solidFill>
          <a:ln w="12700">
            <a:solidFill>
              <a:srgbClr val="64748B"/>
            </a:solidFill>
            <a:prstDash val="solid"/>
          </a:ln>
        </p:spPr>
      </p:sp>
      <p:sp>
        <p:nvSpPr>
          <p:cNvPr id="23" name="Text 21"/>
          <p:cNvSpPr/>
          <p:nvPr/>
        </p:nvSpPr>
        <p:spPr>
          <a:xfrm>
            <a:off x="3877056" y="1234440"/>
            <a:ext cx="1207008" cy="658368"/>
          </a:xfrm>
          <a:prstGeom prst="rect">
            <a:avLst/>
          </a:prstGeom>
          <a:noFill/>
          <a:ln/>
        </p:spPr>
        <p:txBody>
          <a:bodyPr wrap="square" lIns="0" tIns="0" rIns="0" bIns="0" rtlCol="0" anchor="ctr"/>
          <a:lstStyle/>
          <a:p>
            <a:pPr algn="ctr" indent="0" marL="0">
              <a:buNone/>
            </a:pPr>
            <a:r>
              <a:rPr lang="en-US" sz="1050" dirty="0">
                <a:solidFill>
                  <a:srgbClr val="FFFFFF"/>
                </a:solidFill>
              </a:rPr>
              <a:t>Required</a:t>
            </a:r>
            <a:endParaRPr lang="en-US" sz="1050" dirty="0"/>
          </a:p>
        </p:txBody>
      </p:sp>
      <p:sp>
        <p:nvSpPr>
          <p:cNvPr id="24" name="Shape 22"/>
          <p:cNvSpPr/>
          <p:nvPr/>
        </p:nvSpPr>
        <p:spPr>
          <a:xfrm>
            <a:off x="5166360" y="1234440"/>
            <a:ext cx="1051560" cy="658368"/>
          </a:xfrm>
          <a:prstGeom prst="rect">
            <a:avLst/>
          </a:prstGeom>
          <a:solidFill>
            <a:srgbClr val="132337"/>
          </a:solidFill>
          <a:ln w="12700">
            <a:solidFill>
              <a:srgbClr val="64748B"/>
            </a:solidFill>
            <a:prstDash val="solid"/>
          </a:ln>
        </p:spPr>
      </p:sp>
      <p:sp>
        <p:nvSpPr>
          <p:cNvPr id="25" name="Text 23"/>
          <p:cNvSpPr/>
          <p:nvPr/>
        </p:nvSpPr>
        <p:spPr>
          <a:xfrm>
            <a:off x="5202936" y="1234440"/>
            <a:ext cx="978408" cy="658368"/>
          </a:xfrm>
          <a:prstGeom prst="rect">
            <a:avLst/>
          </a:prstGeom>
          <a:noFill/>
          <a:ln/>
        </p:spPr>
        <p:txBody>
          <a:bodyPr wrap="square" lIns="0" tIns="0" rIns="0" bIns="0" rtlCol="0" anchor="ctr"/>
          <a:lstStyle/>
          <a:p>
            <a:pPr algn="ctr" indent="0" marL="0">
              <a:buNone/>
            </a:pPr>
            <a:r>
              <a:rPr lang="en-US" sz="1050" dirty="0">
                <a:solidFill>
                  <a:srgbClr val="EF4444"/>
                </a:solidFill>
              </a:rPr>
              <a:t>❌ No</a:t>
            </a:r>
            <a:endParaRPr lang="en-US" sz="1050" dirty="0"/>
          </a:p>
        </p:txBody>
      </p:sp>
      <p:sp>
        <p:nvSpPr>
          <p:cNvPr id="26" name="Shape 24"/>
          <p:cNvSpPr/>
          <p:nvPr/>
        </p:nvSpPr>
        <p:spPr>
          <a:xfrm>
            <a:off x="6263640" y="1234440"/>
            <a:ext cx="2194560" cy="658368"/>
          </a:xfrm>
          <a:prstGeom prst="rect">
            <a:avLst/>
          </a:prstGeom>
          <a:solidFill>
            <a:srgbClr val="132337"/>
          </a:solidFill>
          <a:ln w="12700">
            <a:solidFill>
              <a:srgbClr val="64748B"/>
            </a:solidFill>
            <a:prstDash val="solid"/>
          </a:ln>
        </p:spPr>
      </p:sp>
      <p:sp>
        <p:nvSpPr>
          <p:cNvPr id="27" name="Text 25"/>
          <p:cNvSpPr/>
          <p:nvPr/>
        </p:nvSpPr>
        <p:spPr>
          <a:xfrm>
            <a:off x="6300216" y="1234440"/>
            <a:ext cx="2121408" cy="658368"/>
          </a:xfrm>
          <a:prstGeom prst="rect">
            <a:avLst/>
          </a:prstGeom>
          <a:noFill/>
          <a:ln/>
        </p:spPr>
        <p:txBody>
          <a:bodyPr wrap="square" lIns="0" tIns="0" rIns="0" bIns="0" rtlCol="0" anchor="ctr"/>
          <a:lstStyle/>
          <a:p>
            <a:pPr algn="ctr" indent="0" marL="0">
              <a:buNone/>
            </a:pPr>
            <a:r>
              <a:rPr lang="en-US" sz="1050" dirty="0">
                <a:solidFill>
                  <a:srgbClr val="FFFFFF"/>
                </a:solidFill>
              </a:rPr>
              <a:t>Single-host apps</a:t>
            </a:r>
            <a:endParaRPr lang="en-US" sz="1050" dirty="0"/>
          </a:p>
        </p:txBody>
      </p:sp>
      <p:sp>
        <p:nvSpPr>
          <p:cNvPr id="28" name="Shape 26"/>
          <p:cNvSpPr/>
          <p:nvPr/>
        </p:nvSpPr>
        <p:spPr>
          <a:xfrm>
            <a:off x="182880" y="1947672"/>
            <a:ext cx="1417320" cy="658368"/>
          </a:xfrm>
          <a:prstGeom prst="rect">
            <a:avLst/>
          </a:prstGeom>
          <a:solidFill>
            <a:srgbClr val="0F2942"/>
          </a:solidFill>
          <a:ln w="25400">
            <a:solidFill>
              <a:srgbClr val="F97316"/>
            </a:solidFill>
            <a:prstDash val="solid"/>
          </a:ln>
        </p:spPr>
      </p:sp>
      <p:sp>
        <p:nvSpPr>
          <p:cNvPr id="29" name="Text 27"/>
          <p:cNvSpPr/>
          <p:nvPr/>
        </p:nvSpPr>
        <p:spPr>
          <a:xfrm>
            <a:off x="219456" y="1947672"/>
            <a:ext cx="1344168" cy="658368"/>
          </a:xfrm>
          <a:prstGeom prst="rect">
            <a:avLst/>
          </a:prstGeom>
          <a:noFill/>
          <a:ln/>
        </p:spPr>
        <p:txBody>
          <a:bodyPr wrap="square" lIns="0" tIns="0" rIns="0" bIns="0" rtlCol="0" anchor="ctr"/>
          <a:lstStyle/>
          <a:p>
            <a:pPr algn="ctr" indent="0" marL="0">
              <a:buNone/>
            </a:pPr>
            <a:r>
              <a:rPr lang="en-US" sz="1100" b="1" dirty="0">
                <a:solidFill>
                  <a:srgbClr val="F97316"/>
                </a:solidFill>
              </a:rPr>
              <a:t>🚪 Host</a:t>
            </a:r>
            <a:endParaRPr lang="en-US" sz="1100" dirty="0"/>
          </a:p>
        </p:txBody>
      </p:sp>
      <p:sp>
        <p:nvSpPr>
          <p:cNvPr id="30" name="Shape 28"/>
          <p:cNvSpPr/>
          <p:nvPr/>
        </p:nvSpPr>
        <p:spPr>
          <a:xfrm>
            <a:off x="1645920" y="1947672"/>
            <a:ext cx="1188720" cy="658368"/>
          </a:xfrm>
          <a:prstGeom prst="rect">
            <a:avLst/>
          </a:prstGeom>
          <a:solidFill>
            <a:srgbClr val="132337"/>
          </a:solidFill>
          <a:ln w="12700">
            <a:solidFill>
              <a:srgbClr val="64748B"/>
            </a:solidFill>
            <a:prstDash val="solid"/>
          </a:ln>
        </p:spPr>
      </p:sp>
      <p:sp>
        <p:nvSpPr>
          <p:cNvPr id="31" name="Text 29"/>
          <p:cNvSpPr/>
          <p:nvPr/>
        </p:nvSpPr>
        <p:spPr>
          <a:xfrm>
            <a:off x="1682496" y="1947672"/>
            <a:ext cx="1115568" cy="658368"/>
          </a:xfrm>
          <a:prstGeom prst="rect">
            <a:avLst/>
          </a:prstGeom>
          <a:noFill/>
          <a:ln/>
        </p:spPr>
        <p:txBody>
          <a:bodyPr wrap="square" lIns="0" tIns="0" rIns="0" bIns="0" rtlCol="0" anchor="ctr"/>
          <a:lstStyle/>
          <a:p>
            <a:pPr algn="ctr" indent="0" marL="0">
              <a:buNone/>
            </a:pPr>
            <a:r>
              <a:rPr lang="en-US" sz="1050" dirty="0">
                <a:solidFill>
                  <a:srgbClr val="FFFFFF"/>
                </a:solidFill>
              </a:rPr>
              <a:t>None</a:t>
            </a:r>
            <a:endParaRPr lang="en-US" sz="1050" dirty="0"/>
          </a:p>
        </p:txBody>
      </p:sp>
      <p:sp>
        <p:nvSpPr>
          <p:cNvPr id="32" name="Shape 30"/>
          <p:cNvSpPr/>
          <p:nvPr/>
        </p:nvSpPr>
        <p:spPr>
          <a:xfrm>
            <a:off x="2880360" y="1947672"/>
            <a:ext cx="914400" cy="658368"/>
          </a:xfrm>
          <a:prstGeom prst="rect">
            <a:avLst/>
          </a:prstGeom>
          <a:solidFill>
            <a:srgbClr val="132337"/>
          </a:solidFill>
          <a:ln w="12700">
            <a:solidFill>
              <a:srgbClr val="64748B"/>
            </a:solidFill>
            <a:prstDash val="solid"/>
          </a:ln>
        </p:spPr>
      </p:sp>
      <p:sp>
        <p:nvSpPr>
          <p:cNvPr id="33" name="Text 31"/>
          <p:cNvSpPr/>
          <p:nvPr/>
        </p:nvSpPr>
        <p:spPr>
          <a:xfrm>
            <a:off x="2916936" y="1947672"/>
            <a:ext cx="841248" cy="658368"/>
          </a:xfrm>
          <a:prstGeom prst="rect">
            <a:avLst/>
          </a:prstGeom>
          <a:noFill/>
          <a:ln/>
        </p:spPr>
        <p:txBody>
          <a:bodyPr wrap="square" lIns="0" tIns="0" rIns="0" bIns="0" rtlCol="0" anchor="ctr"/>
          <a:lstStyle/>
          <a:p>
            <a:pPr algn="ctr" indent="0" marL="0">
              <a:buNone/>
            </a:pPr>
            <a:r>
              <a:rPr lang="en-US" sz="1050" dirty="0">
                <a:solidFill>
                  <a:srgbClr val="FFFFFF"/>
                </a:solidFill>
              </a:rPr>
              <a:t>Host DNS</a:t>
            </a:r>
            <a:endParaRPr lang="en-US" sz="1050" dirty="0"/>
          </a:p>
        </p:txBody>
      </p:sp>
      <p:sp>
        <p:nvSpPr>
          <p:cNvPr id="34" name="Shape 32"/>
          <p:cNvSpPr/>
          <p:nvPr/>
        </p:nvSpPr>
        <p:spPr>
          <a:xfrm>
            <a:off x="3840480" y="1947672"/>
            <a:ext cx="1280160" cy="658368"/>
          </a:xfrm>
          <a:prstGeom prst="rect">
            <a:avLst/>
          </a:prstGeom>
          <a:solidFill>
            <a:srgbClr val="132337"/>
          </a:solidFill>
          <a:ln w="12700">
            <a:solidFill>
              <a:srgbClr val="64748B"/>
            </a:solidFill>
            <a:prstDash val="solid"/>
          </a:ln>
        </p:spPr>
      </p:sp>
      <p:sp>
        <p:nvSpPr>
          <p:cNvPr id="35" name="Text 33"/>
          <p:cNvSpPr/>
          <p:nvPr/>
        </p:nvSpPr>
        <p:spPr>
          <a:xfrm>
            <a:off x="3877056" y="1947672"/>
            <a:ext cx="1207008" cy="658368"/>
          </a:xfrm>
          <a:prstGeom prst="rect">
            <a:avLst/>
          </a:prstGeom>
          <a:noFill/>
          <a:ln/>
        </p:spPr>
        <p:txBody>
          <a:bodyPr wrap="square" lIns="0" tIns="0" rIns="0" bIns="0" rtlCol="0" anchor="ctr"/>
          <a:lstStyle/>
          <a:p>
            <a:pPr algn="ctr" indent="0" marL="0">
              <a:buNone/>
            </a:pPr>
            <a:r>
              <a:rPr lang="en-US" sz="1050" dirty="0">
                <a:solidFill>
                  <a:srgbClr val="EF4444"/>
                </a:solidFill>
              </a:rPr>
              <a:t>❌ Not needed</a:t>
            </a:r>
            <a:endParaRPr lang="en-US" sz="1050" dirty="0"/>
          </a:p>
        </p:txBody>
      </p:sp>
      <p:sp>
        <p:nvSpPr>
          <p:cNvPr id="36" name="Shape 34"/>
          <p:cNvSpPr/>
          <p:nvPr/>
        </p:nvSpPr>
        <p:spPr>
          <a:xfrm>
            <a:off x="5166360" y="1947672"/>
            <a:ext cx="1051560" cy="658368"/>
          </a:xfrm>
          <a:prstGeom prst="rect">
            <a:avLst/>
          </a:prstGeom>
          <a:solidFill>
            <a:srgbClr val="132337"/>
          </a:solidFill>
          <a:ln w="12700">
            <a:solidFill>
              <a:srgbClr val="64748B"/>
            </a:solidFill>
            <a:prstDash val="solid"/>
          </a:ln>
        </p:spPr>
      </p:sp>
      <p:sp>
        <p:nvSpPr>
          <p:cNvPr id="37" name="Text 35"/>
          <p:cNvSpPr/>
          <p:nvPr/>
        </p:nvSpPr>
        <p:spPr>
          <a:xfrm>
            <a:off x="5202936" y="1947672"/>
            <a:ext cx="978408" cy="658368"/>
          </a:xfrm>
          <a:prstGeom prst="rect">
            <a:avLst/>
          </a:prstGeom>
          <a:noFill/>
          <a:ln/>
        </p:spPr>
        <p:txBody>
          <a:bodyPr wrap="square" lIns="0" tIns="0" rIns="0" bIns="0" rtlCol="0" anchor="ctr"/>
          <a:lstStyle/>
          <a:p>
            <a:pPr algn="ctr" indent="0" marL="0">
              <a:buNone/>
            </a:pPr>
            <a:r>
              <a:rPr lang="en-US" sz="1050" dirty="0">
                <a:solidFill>
                  <a:srgbClr val="EF4444"/>
                </a:solidFill>
              </a:rPr>
              <a:t>❌ No</a:t>
            </a:r>
            <a:endParaRPr lang="en-US" sz="1050" dirty="0"/>
          </a:p>
        </p:txBody>
      </p:sp>
      <p:sp>
        <p:nvSpPr>
          <p:cNvPr id="38" name="Shape 36"/>
          <p:cNvSpPr/>
          <p:nvPr/>
        </p:nvSpPr>
        <p:spPr>
          <a:xfrm>
            <a:off x="6263640" y="1947672"/>
            <a:ext cx="2194560" cy="658368"/>
          </a:xfrm>
          <a:prstGeom prst="rect">
            <a:avLst/>
          </a:prstGeom>
          <a:solidFill>
            <a:srgbClr val="132337"/>
          </a:solidFill>
          <a:ln w="12700">
            <a:solidFill>
              <a:srgbClr val="64748B"/>
            </a:solidFill>
            <a:prstDash val="solid"/>
          </a:ln>
        </p:spPr>
      </p:sp>
      <p:sp>
        <p:nvSpPr>
          <p:cNvPr id="39" name="Text 37"/>
          <p:cNvSpPr/>
          <p:nvPr/>
        </p:nvSpPr>
        <p:spPr>
          <a:xfrm>
            <a:off x="6300216" y="1947672"/>
            <a:ext cx="2121408" cy="658368"/>
          </a:xfrm>
          <a:prstGeom prst="rect">
            <a:avLst/>
          </a:prstGeom>
          <a:noFill/>
          <a:ln/>
        </p:spPr>
        <p:txBody>
          <a:bodyPr wrap="square" lIns="0" tIns="0" rIns="0" bIns="0" rtlCol="0" anchor="ctr"/>
          <a:lstStyle/>
          <a:p>
            <a:pPr algn="ctr" indent="0" marL="0">
              <a:buNone/>
            </a:pPr>
            <a:r>
              <a:rPr lang="en-US" sz="1050" dirty="0">
                <a:solidFill>
                  <a:srgbClr val="FFFFFF"/>
                </a:solidFill>
              </a:rPr>
              <a:t>Max performance</a:t>
            </a:r>
            <a:endParaRPr lang="en-US" sz="1050" dirty="0"/>
          </a:p>
        </p:txBody>
      </p:sp>
      <p:sp>
        <p:nvSpPr>
          <p:cNvPr id="40" name="Shape 38"/>
          <p:cNvSpPr/>
          <p:nvPr/>
        </p:nvSpPr>
        <p:spPr>
          <a:xfrm>
            <a:off x="182880" y="2660904"/>
            <a:ext cx="1417320" cy="658368"/>
          </a:xfrm>
          <a:prstGeom prst="rect">
            <a:avLst/>
          </a:prstGeom>
          <a:solidFill>
            <a:srgbClr val="0F2942"/>
          </a:solidFill>
          <a:ln w="25400">
            <a:solidFill>
              <a:srgbClr val="EF4444"/>
            </a:solidFill>
            <a:prstDash val="solid"/>
          </a:ln>
        </p:spPr>
      </p:sp>
      <p:sp>
        <p:nvSpPr>
          <p:cNvPr id="41" name="Text 39"/>
          <p:cNvSpPr/>
          <p:nvPr/>
        </p:nvSpPr>
        <p:spPr>
          <a:xfrm>
            <a:off x="219456" y="2660904"/>
            <a:ext cx="1344168" cy="658368"/>
          </a:xfrm>
          <a:prstGeom prst="rect">
            <a:avLst/>
          </a:prstGeom>
          <a:noFill/>
          <a:ln/>
        </p:spPr>
        <p:txBody>
          <a:bodyPr wrap="square" lIns="0" tIns="0" rIns="0" bIns="0" rtlCol="0" anchor="ctr"/>
          <a:lstStyle/>
          <a:p>
            <a:pPr algn="ctr" indent="0" marL="0">
              <a:buNone/>
            </a:pPr>
            <a:r>
              <a:rPr lang="en-US" sz="1100" b="1" dirty="0">
                <a:solidFill>
                  <a:srgbClr val="EF4444"/>
                </a:solidFill>
              </a:rPr>
              <a:t>🔇 None</a:t>
            </a:r>
            <a:endParaRPr lang="en-US" sz="1100" dirty="0"/>
          </a:p>
        </p:txBody>
      </p:sp>
      <p:sp>
        <p:nvSpPr>
          <p:cNvPr id="42" name="Shape 40"/>
          <p:cNvSpPr/>
          <p:nvPr/>
        </p:nvSpPr>
        <p:spPr>
          <a:xfrm>
            <a:off x="1645920" y="2660904"/>
            <a:ext cx="1188720" cy="658368"/>
          </a:xfrm>
          <a:prstGeom prst="rect">
            <a:avLst/>
          </a:prstGeom>
          <a:solidFill>
            <a:srgbClr val="132337"/>
          </a:solidFill>
          <a:ln w="12700">
            <a:solidFill>
              <a:srgbClr val="64748B"/>
            </a:solidFill>
            <a:prstDash val="solid"/>
          </a:ln>
        </p:spPr>
      </p:sp>
      <p:sp>
        <p:nvSpPr>
          <p:cNvPr id="43" name="Text 41"/>
          <p:cNvSpPr/>
          <p:nvPr/>
        </p:nvSpPr>
        <p:spPr>
          <a:xfrm>
            <a:off x="1682496" y="2660904"/>
            <a:ext cx="1115568" cy="658368"/>
          </a:xfrm>
          <a:prstGeom prst="rect">
            <a:avLst/>
          </a:prstGeom>
          <a:noFill/>
          <a:ln/>
        </p:spPr>
        <p:txBody>
          <a:bodyPr wrap="square" lIns="0" tIns="0" rIns="0" bIns="0" rtlCol="0" anchor="ctr"/>
          <a:lstStyle/>
          <a:p>
            <a:pPr algn="ctr" indent="0" marL="0">
              <a:buNone/>
            </a:pPr>
            <a:r>
              <a:rPr lang="en-US" sz="1050" dirty="0">
                <a:solidFill>
                  <a:srgbClr val="FFFFFF"/>
                </a:solidFill>
              </a:rPr>
              <a:t>Total</a:t>
            </a:r>
            <a:endParaRPr lang="en-US" sz="1050" dirty="0"/>
          </a:p>
        </p:txBody>
      </p:sp>
      <p:sp>
        <p:nvSpPr>
          <p:cNvPr id="44" name="Shape 42"/>
          <p:cNvSpPr/>
          <p:nvPr/>
        </p:nvSpPr>
        <p:spPr>
          <a:xfrm>
            <a:off x="2880360" y="2660904"/>
            <a:ext cx="914400" cy="658368"/>
          </a:xfrm>
          <a:prstGeom prst="rect">
            <a:avLst/>
          </a:prstGeom>
          <a:solidFill>
            <a:srgbClr val="132337"/>
          </a:solidFill>
          <a:ln w="12700">
            <a:solidFill>
              <a:srgbClr val="64748B"/>
            </a:solidFill>
            <a:prstDash val="solid"/>
          </a:ln>
        </p:spPr>
      </p:sp>
      <p:sp>
        <p:nvSpPr>
          <p:cNvPr id="45" name="Text 43"/>
          <p:cNvSpPr/>
          <p:nvPr/>
        </p:nvSpPr>
        <p:spPr>
          <a:xfrm>
            <a:off x="2916936" y="2660904"/>
            <a:ext cx="841248" cy="658368"/>
          </a:xfrm>
          <a:prstGeom prst="rect">
            <a:avLst/>
          </a:prstGeom>
          <a:noFill/>
          <a:ln/>
        </p:spPr>
        <p:txBody>
          <a:bodyPr wrap="square" lIns="0" tIns="0" rIns="0" bIns="0" rtlCol="0" anchor="ctr"/>
          <a:lstStyle/>
          <a:p>
            <a:pPr algn="ctr" indent="0" marL="0">
              <a:buNone/>
            </a:pPr>
            <a:r>
              <a:rPr lang="en-US" sz="1050" dirty="0">
                <a:solidFill>
                  <a:srgbClr val="EF4444"/>
                </a:solidFill>
              </a:rPr>
              <a:t>❌ No</a:t>
            </a:r>
            <a:endParaRPr lang="en-US" sz="1050" dirty="0"/>
          </a:p>
        </p:txBody>
      </p:sp>
      <p:sp>
        <p:nvSpPr>
          <p:cNvPr id="46" name="Shape 44"/>
          <p:cNvSpPr/>
          <p:nvPr/>
        </p:nvSpPr>
        <p:spPr>
          <a:xfrm>
            <a:off x="3840480" y="2660904"/>
            <a:ext cx="1280160" cy="658368"/>
          </a:xfrm>
          <a:prstGeom prst="rect">
            <a:avLst/>
          </a:prstGeom>
          <a:solidFill>
            <a:srgbClr val="132337"/>
          </a:solidFill>
          <a:ln w="12700">
            <a:solidFill>
              <a:srgbClr val="64748B"/>
            </a:solidFill>
            <a:prstDash val="solid"/>
          </a:ln>
        </p:spPr>
      </p:sp>
      <p:sp>
        <p:nvSpPr>
          <p:cNvPr id="47" name="Text 45"/>
          <p:cNvSpPr/>
          <p:nvPr/>
        </p:nvSpPr>
        <p:spPr>
          <a:xfrm>
            <a:off x="3877056" y="2660904"/>
            <a:ext cx="1207008" cy="658368"/>
          </a:xfrm>
          <a:prstGeom prst="rect">
            <a:avLst/>
          </a:prstGeom>
          <a:noFill/>
          <a:ln/>
        </p:spPr>
        <p:txBody>
          <a:bodyPr wrap="square" lIns="0" tIns="0" rIns="0" bIns="0" rtlCol="0" anchor="ctr"/>
          <a:lstStyle/>
          <a:p>
            <a:pPr algn="ctr" indent="0" marL="0">
              <a:buNone/>
            </a:pPr>
            <a:r>
              <a:rPr lang="en-US" sz="1050" dirty="0">
                <a:solidFill>
                  <a:srgbClr val="EF4444"/>
                </a:solidFill>
              </a:rPr>
              <a:t>❌ N/A</a:t>
            </a:r>
            <a:endParaRPr lang="en-US" sz="1050" dirty="0"/>
          </a:p>
        </p:txBody>
      </p:sp>
      <p:sp>
        <p:nvSpPr>
          <p:cNvPr id="48" name="Shape 46"/>
          <p:cNvSpPr/>
          <p:nvPr/>
        </p:nvSpPr>
        <p:spPr>
          <a:xfrm>
            <a:off x="5166360" y="2660904"/>
            <a:ext cx="1051560" cy="658368"/>
          </a:xfrm>
          <a:prstGeom prst="rect">
            <a:avLst/>
          </a:prstGeom>
          <a:solidFill>
            <a:srgbClr val="132337"/>
          </a:solidFill>
          <a:ln w="12700">
            <a:solidFill>
              <a:srgbClr val="64748B"/>
            </a:solidFill>
            <a:prstDash val="solid"/>
          </a:ln>
        </p:spPr>
      </p:sp>
      <p:sp>
        <p:nvSpPr>
          <p:cNvPr id="49" name="Text 47"/>
          <p:cNvSpPr/>
          <p:nvPr/>
        </p:nvSpPr>
        <p:spPr>
          <a:xfrm>
            <a:off x="5202936" y="2660904"/>
            <a:ext cx="978408" cy="658368"/>
          </a:xfrm>
          <a:prstGeom prst="rect">
            <a:avLst/>
          </a:prstGeom>
          <a:noFill/>
          <a:ln/>
        </p:spPr>
        <p:txBody>
          <a:bodyPr wrap="square" lIns="0" tIns="0" rIns="0" bIns="0" rtlCol="0" anchor="ctr"/>
          <a:lstStyle/>
          <a:p>
            <a:pPr algn="ctr" indent="0" marL="0">
              <a:buNone/>
            </a:pPr>
            <a:r>
              <a:rPr lang="en-US" sz="1050" dirty="0">
                <a:solidFill>
                  <a:srgbClr val="EF4444"/>
                </a:solidFill>
              </a:rPr>
              <a:t>❌ No</a:t>
            </a:r>
            <a:endParaRPr lang="en-US" sz="1050" dirty="0"/>
          </a:p>
        </p:txBody>
      </p:sp>
      <p:sp>
        <p:nvSpPr>
          <p:cNvPr id="50" name="Shape 48"/>
          <p:cNvSpPr/>
          <p:nvPr/>
        </p:nvSpPr>
        <p:spPr>
          <a:xfrm>
            <a:off x="6263640" y="2660904"/>
            <a:ext cx="2194560" cy="658368"/>
          </a:xfrm>
          <a:prstGeom prst="rect">
            <a:avLst/>
          </a:prstGeom>
          <a:solidFill>
            <a:srgbClr val="132337"/>
          </a:solidFill>
          <a:ln w="12700">
            <a:solidFill>
              <a:srgbClr val="64748B"/>
            </a:solidFill>
            <a:prstDash val="solid"/>
          </a:ln>
        </p:spPr>
      </p:sp>
      <p:sp>
        <p:nvSpPr>
          <p:cNvPr id="51" name="Text 49"/>
          <p:cNvSpPr/>
          <p:nvPr/>
        </p:nvSpPr>
        <p:spPr>
          <a:xfrm>
            <a:off x="6300216" y="2660904"/>
            <a:ext cx="2121408" cy="658368"/>
          </a:xfrm>
          <a:prstGeom prst="rect">
            <a:avLst/>
          </a:prstGeom>
          <a:noFill/>
          <a:ln/>
        </p:spPr>
        <p:txBody>
          <a:bodyPr wrap="square" lIns="0" tIns="0" rIns="0" bIns="0" rtlCol="0" anchor="ctr"/>
          <a:lstStyle/>
          <a:p>
            <a:pPr algn="ctr" indent="0" marL="0">
              <a:buNone/>
            </a:pPr>
            <a:r>
              <a:rPr lang="en-US" sz="1050" dirty="0">
                <a:solidFill>
                  <a:srgbClr val="FFFFFF"/>
                </a:solidFill>
              </a:rPr>
              <a:t>Air-gapped jobs</a:t>
            </a:r>
            <a:endParaRPr lang="en-US" sz="1050" dirty="0"/>
          </a:p>
        </p:txBody>
      </p:sp>
      <p:sp>
        <p:nvSpPr>
          <p:cNvPr id="52" name="Shape 50"/>
          <p:cNvSpPr/>
          <p:nvPr/>
        </p:nvSpPr>
        <p:spPr>
          <a:xfrm>
            <a:off x="182880" y="3374136"/>
            <a:ext cx="1417320" cy="658368"/>
          </a:xfrm>
          <a:prstGeom prst="rect">
            <a:avLst/>
          </a:prstGeom>
          <a:solidFill>
            <a:srgbClr val="0F2942"/>
          </a:solidFill>
          <a:ln w="25400">
            <a:solidFill>
              <a:srgbClr val="8B5CF6"/>
            </a:solidFill>
            <a:prstDash val="solid"/>
          </a:ln>
        </p:spPr>
      </p:sp>
      <p:sp>
        <p:nvSpPr>
          <p:cNvPr id="53" name="Text 51"/>
          <p:cNvSpPr/>
          <p:nvPr/>
        </p:nvSpPr>
        <p:spPr>
          <a:xfrm>
            <a:off x="219456" y="3374136"/>
            <a:ext cx="1344168" cy="658368"/>
          </a:xfrm>
          <a:prstGeom prst="rect">
            <a:avLst/>
          </a:prstGeom>
          <a:noFill/>
          <a:ln/>
        </p:spPr>
        <p:txBody>
          <a:bodyPr wrap="square" lIns="0" tIns="0" rIns="0" bIns="0" rtlCol="0" anchor="ctr"/>
          <a:lstStyle/>
          <a:p>
            <a:pPr algn="ctr" indent="0" marL="0">
              <a:buNone/>
            </a:pPr>
            <a:r>
              <a:rPr lang="en-US" sz="1100" b="1" dirty="0">
                <a:solidFill>
                  <a:srgbClr val="8B5CF6"/>
                </a:solidFill>
              </a:rPr>
              <a:t>🏠 Macvlan</a:t>
            </a:r>
            <a:endParaRPr lang="en-US" sz="1100" dirty="0"/>
          </a:p>
        </p:txBody>
      </p:sp>
      <p:sp>
        <p:nvSpPr>
          <p:cNvPr id="54" name="Shape 52"/>
          <p:cNvSpPr/>
          <p:nvPr/>
        </p:nvSpPr>
        <p:spPr>
          <a:xfrm>
            <a:off x="1645920" y="3374136"/>
            <a:ext cx="1188720" cy="658368"/>
          </a:xfrm>
          <a:prstGeom prst="rect">
            <a:avLst/>
          </a:prstGeom>
          <a:solidFill>
            <a:srgbClr val="132337"/>
          </a:solidFill>
          <a:ln w="12700">
            <a:solidFill>
              <a:srgbClr val="64748B"/>
            </a:solidFill>
            <a:prstDash val="solid"/>
          </a:ln>
        </p:spPr>
      </p:sp>
      <p:sp>
        <p:nvSpPr>
          <p:cNvPr id="55" name="Text 53"/>
          <p:cNvSpPr/>
          <p:nvPr/>
        </p:nvSpPr>
        <p:spPr>
          <a:xfrm>
            <a:off x="1682496" y="3374136"/>
            <a:ext cx="1115568" cy="658368"/>
          </a:xfrm>
          <a:prstGeom prst="rect">
            <a:avLst/>
          </a:prstGeom>
          <a:noFill/>
          <a:ln/>
        </p:spPr>
        <p:txBody>
          <a:bodyPr wrap="square" lIns="0" tIns="0" rIns="0" bIns="0" rtlCol="0" anchor="ctr"/>
          <a:lstStyle/>
          <a:p>
            <a:pPr algn="ctr" indent="0" marL="0">
              <a:buNone/>
            </a:pPr>
            <a:r>
              <a:rPr lang="en-US" sz="1050" dirty="0">
                <a:solidFill>
                  <a:srgbClr val="FFFFFF"/>
                </a:solidFill>
              </a:rPr>
              <a:t>Physical LAN</a:t>
            </a:r>
            <a:endParaRPr lang="en-US" sz="1050" dirty="0"/>
          </a:p>
        </p:txBody>
      </p:sp>
      <p:sp>
        <p:nvSpPr>
          <p:cNvPr id="56" name="Shape 54"/>
          <p:cNvSpPr/>
          <p:nvPr/>
        </p:nvSpPr>
        <p:spPr>
          <a:xfrm>
            <a:off x="2880360" y="3374136"/>
            <a:ext cx="914400" cy="658368"/>
          </a:xfrm>
          <a:prstGeom prst="rect">
            <a:avLst/>
          </a:prstGeom>
          <a:solidFill>
            <a:srgbClr val="132337"/>
          </a:solidFill>
          <a:ln w="12700">
            <a:solidFill>
              <a:srgbClr val="64748B"/>
            </a:solidFill>
            <a:prstDash val="solid"/>
          </a:ln>
        </p:spPr>
      </p:sp>
      <p:sp>
        <p:nvSpPr>
          <p:cNvPr id="57" name="Text 55"/>
          <p:cNvSpPr/>
          <p:nvPr/>
        </p:nvSpPr>
        <p:spPr>
          <a:xfrm>
            <a:off x="2916936" y="3374136"/>
            <a:ext cx="841248" cy="658368"/>
          </a:xfrm>
          <a:prstGeom prst="rect">
            <a:avLst/>
          </a:prstGeom>
          <a:noFill/>
          <a:ln/>
        </p:spPr>
        <p:txBody>
          <a:bodyPr wrap="square" lIns="0" tIns="0" rIns="0" bIns="0" rtlCol="0" anchor="ctr"/>
          <a:lstStyle/>
          <a:p>
            <a:pPr algn="ctr" indent="0" marL="0">
              <a:buNone/>
            </a:pPr>
            <a:r>
              <a:rPr lang="en-US" sz="1050" dirty="0">
                <a:solidFill>
                  <a:srgbClr val="FFFFFF"/>
                </a:solidFill>
              </a:rPr>
              <a:t>Router DNS</a:t>
            </a:r>
            <a:endParaRPr lang="en-US" sz="1050" dirty="0"/>
          </a:p>
        </p:txBody>
      </p:sp>
      <p:sp>
        <p:nvSpPr>
          <p:cNvPr id="58" name="Shape 56"/>
          <p:cNvSpPr/>
          <p:nvPr/>
        </p:nvSpPr>
        <p:spPr>
          <a:xfrm>
            <a:off x="3840480" y="3374136"/>
            <a:ext cx="1280160" cy="658368"/>
          </a:xfrm>
          <a:prstGeom prst="rect">
            <a:avLst/>
          </a:prstGeom>
          <a:solidFill>
            <a:srgbClr val="132337"/>
          </a:solidFill>
          <a:ln w="12700">
            <a:solidFill>
              <a:srgbClr val="64748B"/>
            </a:solidFill>
            <a:prstDash val="solid"/>
          </a:ln>
        </p:spPr>
      </p:sp>
      <p:sp>
        <p:nvSpPr>
          <p:cNvPr id="59" name="Text 57"/>
          <p:cNvSpPr/>
          <p:nvPr/>
        </p:nvSpPr>
        <p:spPr>
          <a:xfrm>
            <a:off x="3877056" y="3374136"/>
            <a:ext cx="1207008" cy="658368"/>
          </a:xfrm>
          <a:prstGeom prst="rect">
            <a:avLst/>
          </a:prstGeom>
          <a:noFill/>
          <a:ln/>
        </p:spPr>
        <p:txBody>
          <a:bodyPr wrap="square" lIns="0" tIns="0" rIns="0" bIns="0" rtlCol="0" anchor="ctr"/>
          <a:lstStyle/>
          <a:p>
            <a:pPr algn="ctr" indent="0" marL="0">
              <a:buNone/>
            </a:pPr>
            <a:r>
              <a:rPr lang="en-US" sz="1050" dirty="0">
                <a:solidFill>
                  <a:srgbClr val="EF4444"/>
                </a:solidFill>
              </a:rPr>
              <a:t>❌ Not needed</a:t>
            </a:r>
            <a:endParaRPr lang="en-US" sz="1050" dirty="0"/>
          </a:p>
        </p:txBody>
      </p:sp>
      <p:sp>
        <p:nvSpPr>
          <p:cNvPr id="60" name="Shape 58"/>
          <p:cNvSpPr/>
          <p:nvPr/>
        </p:nvSpPr>
        <p:spPr>
          <a:xfrm>
            <a:off x="5166360" y="3374136"/>
            <a:ext cx="1051560" cy="658368"/>
          </a:xfrm>
          <a:prstGeom prst="rect">
            <a:avLst/>
          </a:prstGeom>
          <a:solidFill>
            <a:srgbClr val="132337"/>
          </a:solidFill>
          <a:ln w="12700">
            <a:solidFill>
              <a:srgbClr val="64748B"/>
            </a:solidFill>
            <a:prstDash val="solid"/>
          </a:ln>
        </p:spPr>
      </p:sp>
      <p:sp>
        <p:nvSpPr>
          <p:cNvPr id="61" name="Text 59"/>
          <p:cNvSpPr/>
          <p:nvPr/>
        </p:nvSpPr>
        <p:spPr>
          <a:xfrm>
            <a:off x="5202936" y="3374136"/>
            <a:ext cx="978408" cy="658368"/>
          </a:xfrm>
          <a:prstGeom prst="rect">
            <a:avLst/>
          </a:prstGeom>
          <a:noFill/>
          <a:ln/>
        </p:spPr>
        <p:txBody>
          <a:bodyPr wrap="square" lIns="0" tIns="0" rIns="0" bIns="0" rtlCol="0" anchor="ctr"/>
          <a:lstStyle/>
          <a:p>
            <a:pPr algn="ctr" indent="0" marL="0">
              <a:buNone/>
            </a:pPr>
            <a:r>
              <a:rPr lang="en-US" sz="1050" dirty="0">
                <a:solidFill>
                  <a:srgbClr val="FFFFFF"/>
                </a:solidFill>
              </a:rPr>
              <a:t>Partial</a:t>
            </a:r>
            <a:endParaRPr lang="en-US" sz="1050" dirty="0"/>
          </a:p>
        </p:txBody>
      </p:sp>
      <p:sp>
        <p:nvSpPr>
          <p:cNvPr id="62" name="Shape 60"/>
          <p:cNvSpPr/>
          <p:nvPr/>
        </p:nvSpPr>
        <p:spPr>
          <a:xfrm>
            <a:off x="6263640" y="3374136"/>
            <a:ext cx="2194560" cy="658368"/>
          </a:xfrm>
          <a:prstGeom prst="rect">
            <a:avLst/>
          </a:prstGeom>
          <a:solidFill>
            <a:srgbClr val="132337"/>
          </a:solidFill>
          <a:ln w="12700">
            <a:solidFill>
              <a:srgbClr val="64748B"/>
            </a:solidFill>
            <a:prstDash val="solid"/>
          </a:ln>
        </p:spPr>
      </p:sp>
      <p:sp>
        <p:nvSpPr>
          <p:cNvPr id="63" name="Text 61"/>
          <p:cNvSpPr/>
          <p:nvPr/>
        </p:nvSpPr>
        <p:spPr>
          <a:xfrm>
            <a:off x="6300216" y="3374136"/>
            <a:ext cx="2121408" cy="658368"/>
          </a:xfrm>
          <a:prstGeom prst="rect">
            <a:avLst/>
          </a:prstGeom>
          <a:noFill/>
          <a:ln/>
        </p:spPr>
        <p:txBody>
          <a:bodyPr wrap="square" lIns="0" tIns="0" rIns="0" bIns="0" rtlCol="0" anchor="ctr"/>
          <a:lstStyle/>
          <a:p>
            <a:pPr algn="ctr" indent="0" marL="0">
              <a:buNone/>
            </a:pPr>
            <a:r>
              <a:rPr lang="en-US" sz="1050" dirty="0">
                <a:solidFill>
                  <a:srgbClr val="FFFFFF"/>
                </a:solidFill>
              </a:rPr>
              <a:t>Legacy LAN apps</a:t>
            </a:r>
            <a:endParaRPr lang="en-US" sz="1050" dirty="0"/>
          </a:p>
        </p:txBody>
      </p:sp>
      <p:sp>
        <p:nvSpPr>
          <p:cNvPr id="64" name="Shape 62"/>
          <p:cNvSpPr/>
          <p:nvPr/>
        </p:nvSpPr>
        <p:spPr>
          <a:xfrm>
            <a:off x="182880" y="4087368"/>
            <a:ext cx="1417320" cy="658368"/>
          </a:xfrm>
          <a:prstGeom prst="rect">
            <a:avLst/>
          </a:prstGeom>
          <a:solidFill>
            <a:srgbClr val="0F2942"/>
          </a:solidFill>
          <a:ln w="25400">
            <a:solidFill>
              <a:srgbClr val="22C55E"/>
            </a:solidFill>
            <a:prstDash val="solid"/>
          </a:ln>
        </p:spPr>
      </p:sp>
      <p:sp>
        <p:nvSpPr>
          <p:cNvPr id="65" name="Text 63"/>
          <p:cNvSpPr/>
          <p:nvPr/>
        </p:nvSpPr>
        <p:spPr>
          <a:xfrm>
            <a:off x="219456" y="4087368"/>
            <a:ext cx="1344168" cy="658368"/>
          </a:xfrm>
          <a:prstGeom prst="rect">
            <a:avLst/>
          </a:prstGeom>
          <a:noFill/>
          <a:ln/>
        </p:spPr>
        <p:txBody>
          <a:bodyPr wrap="square" lIns="0" tIns="0" rIns="0" bIns="0" rtlCol="0" anchor="ctr"/>
          <a:lstStyle/>
          <a:p>
            <a:pPr algn="ctr" indent="0" marL="0">
              <a:buNone/>
            </a:pPr>
            <a:r>
              <a:rPr lang="en-US" sz="1100" b="1" dirty="0">
                <a:solidFill>
                  <a:srgbClr val="22C55E"/>
                </a:solidFill>
              </a:rPr>
              <a:t>🌐 Overlay</a:t>
            </a:r>
            <a:endParaRPr lang="en-US" sz="1100" dirty="0"/>
          </a:p>
        </p:txBody>
      </p:sp>
      <p:sp>
        <p:nvSpPr>
          <p:cNvPr id="66" name="Shape 64"/>
          <p:cNvSpPr/>
          <p:nvPr/>
        </p:nvSpPr>
        <p:spPr>
          <a:xfrm>
            <a:off x="1645920" y="4087368"/>
            <a:ext cx="1188720" cy="658368"/>
          </a:xfrm>
          <a:prstGeom prst="rect">
            <a:avLst/>
          </a:prstGeom>
          <a:solidFill>
            <a:srgbClr val="132337"/>
          </a:solidFill>
          <a:ln w="12700">
            <a:solidFill>
              <a:srgbClr val="64748B"/>
            </a:solidFill>
            <a:prstDash val="solid"/>
          </a:ln>
        </p:spPr>
      </p:sp>
      <p:sp>
        <p:nvSpPr>
          <p:cNvPr id="67" name="Text 65"/>
          <p:cNvSpPr/>
          <p:nvPr/>
        </p:nvSpPr>
        <p:spPr>
          <a:xfrm>
            <a:off x="1682496" y="4087368"/>
            <a:ext cx="1115568" cy="658368"/>
          </a:xfrm>
          <a:prstGeom prst="rect">
            <a:avLst/>
          </a:prstGeom>
          <a:noFill/>
          <a:ln/>
        </p:spPr>
        <p:txBody>
          <a:bodyPr wrap="square" lIns="0" tIns="0" rIns="0" bIns="0" rtlCol="0" anchor="ctr"/>
          <a:lstStyle/>
          <a:p>
            <a:pPr algn="ctr" indent="0" marL="0">
              <a:buNone/>
            </a:pPr>
            <a:r>
              <a:rPr lang="en-US" sz="1050" dirty="0">
                <a:solidFill>
                  <a:srgbClr val="FFFFFF"/>
                </a:solidFill>
              </a:rPr>
              <a:t>Medium</a:t>
            </a:r>
            <a:endParaRPr lang="en-US" sz="1050" dirty="0"/>
          </a:p>
        </p:txBody>
      </p:sp>
      <p:sp>
        <p:nvSpPr>
          <p:cNvPr id="68" name="Shape 66"/>
          <p:cNvSpPr/>
          <p:nvPr/>
        </p:nvSpPr>
        <p:spPr>
          <a:xfrm>
            <a:off x="2880360" y="4087368"/>
            <a:ext cx="914400" cy="658368"/>
          </a:xfrm>
          <a:prstGeom prst="rect">
            <a:avLst/>
          </a:prstGeom>
          <a:solidFill>
            <a:srgbClr val="132337"/>
          </a:solidFill>
          <a:ln w="12700">
            <a:solidFill>
              <a:srgbClr val="64748B"/>
            </a:solidFill>
            <a:prstDash val="solid"/>
          </a:ln>
        </p:spPr>
      </p:sp>
      <p:sp>
        <p:nvSpPr>
          <p:cNvPr id="69" name="Text 67"/>
          <p:cNvSpPr/>
          <p:nvPr/>
        </p:nvSpPr>
        <p:spPr>
          <a:xfrm>
            <a:off x="2916936" y="4087368"/>
            <a:ext cx="841248" cy="658368"/>
          </a:xfrm>
          <a:prstGeom prst="rect">
            <a:avLst/>
          </a:prstGeom>
          <a:noFill/>
          <a:ln/>
        </p:spPr>
        <p:txBody>
          <a:bodyPr wrap="square" lIns="0" tIns="0" rIns="0" bIns="0" rtlCol="0" anchor="ctr"/>
          <a:lstStyle/>
          <a:p>
            <a:pPr algn="ctr" indent="0" marL="0">
              <a:buNone/>
            </a:pPr>
            <a:r>
              <a:rPr lang="en-US" sz="1050" dirty="0">
                <a:solidFill>
                  <a:srgbClr val="22C55E"/>
                </a:solidFill>
              </a:rPr>
              <a:t>✅ Yes</a:t>
            </a:r>
            <a:endParaRPr lang="en-US" sz="1050" dirty="0"/>
          </a:p>
        </p:txBody>
      </p:sp>
      <p:sp>
        <p:nvSpPr>
          <p:cNvPr id="70" name="Shape 68"/>
          <p:cNvSpPr/>
          <p:nvPr/>
        </p:nvSpPr>
        <p:spPr>
          <a:xfrm>
            <a:off x="3840480" y="4087368"/>
            <a:ext cx="1280160" cy="658368"/>
          </a:xfrm>
          <a:prstGeom prst="rect">
            <a:avLst/>
          </a:prstGeom>
          <a:solidFill>
            <a:srgbClr val="132337"/>
          </a:solidFill>
          <a:ln w="12700">
            <a:solidFill>
              <a:srgbClr val="64748B"/>
            </a:solidFill>
            <a:prstDash val="solid"/>
          </a:ln>
        </p:spPr>
      </p:sp>
      <p:sp>
        <p:nvSpPr>
          <p:cNvPr id="71" name="Text 69"/>
          <p:cNvSpPr/>
          <p:nvPr/>
        </p:nvSpPr>
        <p:spPr>
          <a:xfrm>
            <a:off x="3877056" y="4087368"/>
            <a:ext cx="1207008" cy="658368"/>
          </a:xfrm>
          <a:prstGeom prst="rect">
            <a:avLst/>
          </a:prstGeom>
          <a:noFill/>
          <a:ln/>
        </p:spPr>
        <p:txBody>
          <a:bodyPr wrap="square" lIns="0" tIns="0" rIns="0" bIns="0" rtlCol="0" anchor="ctr"/>
          <a:lstStyle/>
          <a:p>
            <a:pPr algn="ctr" indent="0" marL="0">
              <a:buNone/>
            </a:pPr>
            <a:r>
              <a:rPr lang="en-US" sz="1050" dirty="0">
                <a:solidFill>
                  <a:srgbClr val="FFFFFF"/>
                </a:solidFill>
              </a:rPr>
              <a:t>Via ingress</a:t>
            </a:r>
            <a:endParaRPr lang="en-US" sz="1050" dirty="0"/>
          </a:p>
        </p:txBody>
      </p:sp>
      <p:sp>
        <p:nvSpPr>
          <p:cNvPr id="72" name="Shape 70"/>
          <p:cNvSpPr/>
          <p:nvPr/>
        </p:nvSpPr>
        <p:spPr>
          <a:xfrm>
            <a:off x="5166360" y="4087368"/>
            <a:ext cx="1051560" cy="658368"/>
          </a:xfrm>
          <a:prstGeom prst="rect">
            <a:avLst/>
          </a:prstGeom>
          <a:solidFill>
            <a:srgbClr val="132337"/>
          </a:solidFill>
          <a:ln w="12700">
            <a:solidFill>
              <a:srgbClr val="64748B"/>
            </a:solidFill>
            <a:prstDash val="solid"/>
          </a:ln>
        </p:spPr>
      </p:sp>
      <p:sp>
        <p:nvSpPr>
          <p:cNvPr id="73" name="Text 71"/>
          <p:cNvSpPr/>
          <p:nvPr/>
        </p:nvSpPr>
        <p:spPr>
          <a:xfrm>
            <a:off x="5202936" y="4087368"/>
            <a:ext cx="978408" cy="658368"/>
          </a:xfrm>
          <a:prstGeom prst="rect">
            <a:avLst/>
          </a:prstGeom>
          <a:noFill/>
          <a:ln/>
        </p:spPr>
        <p:txBody>
          <a:bodyPr wrap="square" lIns="0" tIns="0" rIns="0" bIns="0" rtlCol="0" anchor="ctr"/>
          <a:lstStyle/>
          <a:p>
            <a:pPr algn="ctr" indent="0" marL="0">
              <a:buNone/>
            </a:pPr>
            <a:r>
              <a:rPr lang="en-US" sz="1050" dirty="0">
                <a:solidFill>
                  <a:srgbClr val="22C55E"/>
                </a:solidFill>
              </a:rPr>
              <a:t>✅ Yes</a:t>
            </a:r>
            <a:endParaRPr lang="en-US" sz="1050" dirty="0"/>
          </a:p>
        </p:txBody>
      </p:sp>
      <p:sp>
        <p:nvSpPr>
          <p:cNvPr id="74" name="Shape 72"/>
          <p:cNvSpPr/>
          <p:nvPr/>
        </p:nvSpPr>
        <p:spPr>
          <a:xfrm>
            <a:off x="6263640" y="4087368"/>
            <a:ext cx="2194560" cy="658368"/>
          </a:xfrm>
          <a:prstGeom prst="rect">
            <a:avLst/>
          </a:prstGeom>
          <a:solidFill>
            <a:srgbClr val="132337"/>
          </a:solidFill>
          <a:ln w="12700">
            <a:solidFill>
              <a:srgbClr val="64748B"/>
            </a:solidFill>
            <a:prstDash val="solid"/>
          </a:ln>
        </p:spPr>
      </p:sp>
      <p:sp>
        <p:nvSpPr>
          <p:cNvPr id="75" name="Text 73"/>
          <p:cNvSpPr/>
          <p:nvPr/>
        </p:nvSpPr>
        <p:spPr>
          <a:xfrm>
            <a:off x="6300216" y="4087368"/>
            <a:ext cx="2121408" cy="658368"/>
          </a:xfrm>
          <a:prstGeom prst="rect">
            <a:avLst/>
          </a:prstGeom>
          <a:noFill/>
          <a:ln/>
        </p:spPr>
        <p:txBody>
          <a:bodyPr wrap="square" lIns="0" tIns="0" rIns="0" bIns="0" rtlCol="0" anchor="ctr"/>
          <a:lstStyle/>
          <a:p>
            <a:pPr algn="ctr" indent="0" marL="0">
              <a:buNone/>
            </a:pPr>
            <a:r>
              <a:rPr lang="en-US" sz="1050" dirty="0">
                <a:solidFill>
                  <a:srgbClr val="FFFFFF"/>
                </a:solidFill>
              </a:rPr>
              <a:t>Swarm / clusters</a:t>
            </a:r>
            <a:endParaRPr lang="en-US" sz="1050" dirty="0"/>
          </a:p>
        </p:txBody>
      </p:sp>
      <p:sp>
        <p:nvSpPr>
          <p:cNvPr id="76" name="Text 74"/>
          <p:cNvSpPr/>
          <p:nvPr/>
        </p:nvSpPr>
        <p:spPr>
          <a:xfrm>
            <a:off x="274320" y="4736592"/>
            <a:ext cx="8595360" cy="292608"/>
          </a:xfrm>
          <a:prstGeom prst="rect">
            <a:avLst/>
          </a:prstGeom>
          <a:noFill/>
          <a:ln/>
        </p:spPr>
        <p:txBody>
          <a:bodyPr wrap="square" lIns="0" tIns="0" rIns="0" bIns="0" rtlCol="0" anchor="ctr"/>
          <a:lstStyle/>
          <a:p>
            <a:pPr indent="0" marL="0">
              <a:buNone/>
            </a:pPr>
            <a:r>
              <a:rPr lang="en-US" sz="1100" i="1" dirty="0">
                <a:solidFill>
                  <a:srgbClr val="FCD34D"/>
                </a:solidFill>
              </a:rPr>
              <a:t>💡  Pro tip: Always create custom bridge networks — the default bridge lacks automatic DNS resolution between containers.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Text 1"/>
          <p:cNvSpPr/>
          <p:nvPr/>
        </p:nvSpPr>
        <p:spPr>
          <a:xfrm>
            <a:off x="274320" y="91440"/>
            <a:ext cx="8595360" cy="502920"/>
          </a:xfrm>
          <a:prstGeom prst="rect">
            <a:avLst/>
          </a:prstGeom>
          <a:noFill/>
          <a:ln/>
        </p:spPr>
        <p:txBody>
          <a:bodyPr wrap="square" lIns="0" tIns="0" rIns="0" bIns="0" rtlCol="0" anchor="ctr"/>
          <a:lstStyle/>
          <a:p>
            <a:pPr indent="0" marL="0">
              <a:buNone/>
            </a:pPr>
            <a:r>
              <a:rPr lang="en-US" sz="2000" b="1" dirty="0">
                <a:solidFill>
                  <a:srgbClr val="06B6D4"/>
                </a:solidFill>
                <a:latin typeface="Arial Black" pitchFamily="34" charset="0"/>
                <a:ea typeface="Arial Black" pitchFamily="34" charset="-122"/>
                <a:cs typeface="Arial Black" pitchFamily="34" charset="-120"/>
              </a:rPr>
              <a:t>🏗️  REAL-WORLD ARCHITECTURE: E-Commerce App</a:t>
            </a:r>
            <a:endParaRPr lang="en-US" sz="2000" dirty="0"/>
          </a:p>
        </p:txBody>
      </p:sp>
      <p:sp>
        <p:nvSpPr>
          <p:cNvPr id="4" name="Shape 2"/>
          <p:cNvSpPr/>
          <p:nvPr/>
        </p:nvSpPr>
        <p:spPr>
          <a:xfrm>
            <a:off x="228600" y="777240"/>
            <a:ext cx="4114800" cy="2971800"/>
          </a:xfrm>
          <a:prstGeom prst="rect">
            <a:avLst/>
          </a:prstGeom>
          <a:solidFill>
            <a:srgbClr val="132337"/>
          </a:solidFill>
          <a:ln w="25400">
            <a:solidFill>
              <a:srgbClr val="06B6D4"/>
            </a:solidFill>
            <a:prstDash val="solid"/>
          </a:ln>
        </p:spPr>
      </p:sp>
      <p:sp>
        <p:nvSpPr>
          <p:cNvPr id="5" name="Text 3"/>
          <p:cNvSpPr/>
          <p:nvPr/>
        </p:nvSpPr>
        <p:spPr>
          <a:xfrm>
            <a:off x="365760" y="822960"/>
            <a:ext cx="3840480" cy="347472"/>
          </a:xfrm>
          <a:prstGeom prst="rect">
            <a:avLst/>
          </a:prstGeom>
          <a:noFill/>
          <a:ln/>
        </p:spPr>
        <p:txBody>
          <a:bodyPr wrap="square" lIns="0" tIns="0" rIns="0" bIns="0" rtlCol="0" anchor="ctr"/>
          <a:lstStyle/>
          <a:p>
            <a:pPr indent="0" marL="0">
              <a:buNone/>
            </a:pPr>
            <a:r>
              <a:rPr lang="en-US" sz="1300" b="1" dirty="0">
                <a:solidFill>
                  <a:srgbClr val="06B6D4"/>
                </a:solidFill>
              </a:rPr>
              <a:t>🌐  DMZ Network (frontend)</a:t>
            </a:r>
            <a:endParaRPr lang="en-US" sz="1300" dirty="0"/>
          </a:p>
        </p:txBody>
      </p:sp>
      <p:sp>
        <p:nvSpPr>
          <p:cNvPr id="6" name="Text 4"/>
          <p:cNvSpPr/>
          <p:nvPr/>
        </p:nvSpPr>
        <p:spPr>
          <a:xfrm>
            <a:off x="365760" y="1143000"/>
            <a:ext cx="3840480" cy="274320"/>
          </a:xfrm>
          <a:prstGeom prst="rect">
            <a:avLst/>
          </a:prstGeom>
          <a:noFill/>
          <a:ln/>
        </p:spPr>
        <p:txBody>
          <a:bodyPr wrap="square" lIns="0" tIns="0" rIns="0" bIns="0" rtlCol="0" anchor="ctr"/>
          <a:lstStyle/>
          <a:p>
            <a:pPr indent="0" marL="0">
              <a:buNone/>
            </a:pPr>
            <a:r>
              <a:rPr lang="en-US" sz="1100" i="1" dirty="0">
                <a:solidFill>
                  <a:srgbClr val="94A3B8"/>
                </a:solidFill>
              </a:rPr>
              <a:t>Public-facing containers</a:t>
            </a:r>
            <a:endParaRPr lang="en-US" sz="1100" dirty="0"/>
          </a:p>
        </p:txBody>
      </p:sp>
      <p:sp>
        <p:nvSpPr>
          <p:cNvPr id="7" name="Shape 5"/>
          <p:cNvSpPr/>
          <p:nvPr/>
        </p:nvSpPr>
        <p:spPr>
          <a:xfrm>
            <a:off x="457200" y="1463040"/>
            <a:ext cx="1645920" cy="1051560"/>
          </a:xfrm>
          <a:prstGeom prst="rect">
            <a:avLst/>
          </a:prstGeom>
          <a:solidFill>
            <a:srgbClr val="0F2942"/>
          </a:solidFill>
          <a:ln w="12700">
            <a:solidFill>
              <a:srgbClr val="06B6D4"/>
            </a:solidFill>
            <a:prstDash val="solid"/>
          </a:ln>
        </p:spPr>
      </p:sp>
      <p:sp>
        <p:nvSpPr>
          <p:cNvPr id="8" name="Text 6"/>
          <p:cNvSpPr/>
          <p:nvPr/>
        </p:nvSpPr>
        <p:spPr>
          <a:xfrm>
            <a:off x="457200" y="1508760"/>
            <a:ext cx="1645920" cy="475488"/>
          </a:xfrm>
          <a:prstGeom prst="rect">
            <a:avLst/>
          </a:prstGeom>
          <a:noFill/>
          <a:ln/>
        </p:spPr>
        <p:txBody>
          <a:bodyPr wrap="square" lIns="0" tIns="0" rIns="0" bIns="0" rtlCol="0" anchor="ctr"/>
          <a:lstStyle/>
          <a:p>
            <a:pPr algn="ctr" indent="0" marL="0">
              <a:buNone/>
            </a:pPr>
            <a:r>
              <a:rPr lang="en-US" sz="1200" b="1" dirty="0">
                <a:solidFill>
                  <a:srgbClr val="06B6D4"/>
                </a:solidFill>
              </a:rPr>
              <a:t>nginx</a:t>
            </a:r>
            <a:endParaRPr lang="en-US" sz="1200" dirty="0"/>
          </a:p>
          <a:p>
            <a:pPr algn="ctr" indent="0" marL="0">
              <a:buNone/>
            </a:pPr>
            <a:r>
              <a:rPr lang="en-US" sz="1200" b="1" dirty="0">
                <a:solidFill>
                  <a:srgbClr val="06B6D4"/>
                </a:solidFill>
              </a:rPr>
              <a:t>(web)</a:t>
            </a:r>
            <a:endParaRPr lang="en-US" sz="1200" dirty="0"/>
          </a:p>
        </p:txBody>
      </p:sp>
      <p:sp>
        <p:nvSpPr>
          <p:cNvPr id="9" name="Text 7"/>
          <p:cNvSpPr/>
          <p:nvPr/>
        </p:nvSpPr>
        <p:spPr>
          <a:xfrm>
            <a:off x="457200" y="1993392"/>
            <a:ext cx="1645920" cy="457200"/>
          </a:xfrm>
          <a:prstGeom prst="rect">
            <a:avLst/>
          </a:prstGeom>
          <a:noFill/>
          <a:ln/>
        </p:spPr>
        <p:txBody>
          <a:bodyPr wrap="square" lIns="0" tIns="0" rIns="0" bIns="0" rtlCol="0" anchor="ctr"/>
          <a:lstStyle/>
          <a:p>
            <a:pPr algn="ctr" indent="0" marL="0">
              <a:buNone/>
            </a:pPr>
            <a:r>
              <a:rPr lang="en-US" sz="1000" dirty="0">
                <a:solidFill>
                  <a:srgbClr val="22C55E"/>
                </a:solidFill>
              </a:rPr>
              <a:t>:80/:443</a:t>
            </a:r>
            <a:endParaRPr lang="en-US" sz="1000" dirty="0"/>
          </a:p>
          <a:p>
            <a:pPr algn="ctr" indent="0" marL="0">
              <a:buNone/>
            </a:pPr>
            <a:r>
              <a:rPr lang="en-US" sz="1000" dirty="0">
                <a:solidFill>
                  <a:srgbClr val="22C55E"/>
                </a:solidFill>
              </a:rPr>
              <a:t>exposed</a:t>
            </a:r>
            <a:endParaRPr lang="en-US" sz="1000" dirty="0"/>
          </a:p>
        </p:txBody>
      </p:sp>
      <p:sp>
        <p:nvSpPr>
          <p:cNvPr id="10" name="Shape 8"/>
          <p:cNvSpPr/>
          <p:nvPr/>
        </p:nvSpPr>
        <p:spPr>
          <a:xfrm>
            <a:off x="2377440" y="1463040"/>
            <a:ext cx="1737360" cy="1051560"/>
          </a:xfrm>
          <a:prstGeom prst="rect">
            <a:avLst/>
          </a:prstGeom>
          <a:solidFill>
            <a:srgbClr val="0F2942"/>
          </a:solidFill>
          <a:ln w="12700">
            <a:solidFill>
              <a:srgbClr val="F97316"/>
            </a:solidFill>
            <a:prstDash val="solid"/>
          </a:ln>
        </p:spPr>
      </p:sp>
      <p:sp>
        <p:nvSpPr>
          <p:cNvPr id="11" name="Text 9"/>
          <p:cNvSpPr/>
          <p:nvPr/>
        </p:nvSpPr>
        <p:spPr>
          <a:xfrm>
            <a:off x="2377440" y="1508760"/>
            <a:ext cx="1737360" cy="475488"/>
          </a:xfrm>
          <a:prstGeom prst="rect">
            <a:avLst/>
          </a:prstGeom>
          <a:noFill/>
          <a:ln/>
        </p:spPr>
        <p:txBody>
          <a:bodyPr wrap="square" lIns="0" tIns="0" rIns="0" bIns="0" rtlCol="0" anchor="ctr"/>
          <a:lstStyle/>
          <a:p>
            <a:pPr algn="ctr" indent="0" marL="0">
              <a:buNone/>
            </a:pPr>
            <a:r>
              <a:rPr lang="en-US" sz="1200" b="1" dirty="0">
                <a:solidFill>
                  <a:srgbClr val="F97316"/>
                </a:solidFill>
              </a:rPr>
              <a:t>api</a:t>
            </a:r>
            <a:endParaRPr lang="en-US" sz="1200" dirty="0"/>
          </a:p>
          <a:p>
            <a:pPr algn="ctr" indent="0" marL="0">
              <a:buNone/>
            </a:pPr>
            <a:r>
              <a:rPr lang="en-US" sz="1200" b="1" dirty="0">
                <a:solidFill>
                  <a:srgbClr val="F97316"/>
                </a:solidFill>
              </a:rPr>
              <a:t>(Python)</a:t>
            </a:r>
            <a:endParaRPr lang="en-US" sz="1200" dirty="0"/>
          </a:p>
        </p:txBody>
      </p:sp>
      <p:sp>
        <p:nvSpPr>
          <p:cNvPr id="12" name="Text 10"/>
          <p:cNvSpPr/>
          <p:nvPr/>
        </p:nvSpPr>
        <p:spPr>
          <a:xfrm>
            <a:off x="2377440" y="1993392"/>
            <a:ext cx="1737360" cy="457200"/>
          </a:xfrm>
          <a:prstGeom prst="rect">
            <a:avLst/>
          </a:prstGeom>
          <a:noFill/>
          <a:ln/>
        </p:spPr>
        <p:txBody>
          <a:bodyPr wrap="square" lIns="0" tIns="0" rIns="0" bIns="0" rtlCol="0" anchor="ctr"/>
          <a:lstStyle/>
          <a:p>
            <a:pPr algn="ctr" indent="0" marL="0">
              <a:buNone/>
            </a:pPr>
            <a:r>
              <a:rPr lang="en-US" sz="1000" dirty="0">
                <a:solidFill>
                  <a:srgbClr val="94A3B8"/>
                </a:solidFill>
              </a:rPr>
              <a:t>Frontend +</a:t>
            </a:r>
            <a:endParaRPr lang="en-US" sz="1000" dirty="0"/>
          </a:p>
          <a:p>
            <a:pPr algn="ctr" indent="0" marL="0">
              <a:buNone/>
            </a:pPr>
            <a:r>
              <a:rPr lang="en-US" sz="1000" dirty="0">
                <a:solidFill>
                  <a:srgbClr val="94A3B8"/>
                </a:solidFill>
              </a:rPr>
              <a:t>Backend nets</a:t>
            </a:r>
            <a:endParaRPr lang="en-US" sz="1000" dirty="0"/>
          </a:p>
        </p:txBody>
      </p:sp>
      <p:sp>
        <p:nvSpPr>
          <p:cNvPr id="13" name="Shape 11"/>
          <p:cNvSpPr/>
          <p:nvPr/>
        </p:nvSpPr>
        <p:spPr>
          <a:xfrm>
            <a:off x="2103120" y="1975104"/>
            <a:ext cx="274320" cy="0"/>
          </a:xfrm>
          <a:prstGeom prst="line">
            <a:avLst/>
          </a:prstGeom>
          <a:noFill/>
          <a:ln w="25400">
            <a:solidFill>
              <a:srgbClr val="FCD34D"/>
            </a:solidFill>
            <a:prstDash val="solid"/>
          </a:ln>
        </p:spPr>
      </p:sp>
      <p:sp>
        <p:nvSpPr>
          <p:cNvPr id="14" name="Text 12"/>
          <p:cNvSpPr/>
          <p:nvPr/>
        </p:nvSpPr>
        <p:spPr>
          <a:xfrm>
            <a:off x="365760" y="2606040"/>
            <a:ext cx="3840480" cy="274320"/>
          </a:xfrm>
          <a:prstGeom prst="rect">
            <a:avLst/>
          </a:prstGeom>
          <a:noFill/>
          <a:ln/>
        </p:spPr>
        <p:txBody>
          <a:bodyPr wrap="square" lIns="0" tIns="0" rIns="0" bIns="0" rtlCol="0" anchor="ctr"/>
          <a:lstStyle/>
          <a:p>
            <a:pPr algn="ctr" indent="0" marL="0">
              <a:buNone/>
            </a:pPr>
            <a:r>
              <a:rPr lang="en-US" sz="1000" i="1" dirty="0">
                <a:solidFill>
                  <a:srgbClr val="94A3B8"/>
                </a:solidFill>
              </a:rPr>
              <a:t>Bridge Network</a:t>
            </a:r>
            <a:endParaRPr lang="en-US" sz="1000" dirty="0"/>
          </a:p>
        </p:txBody>
      </p:sp>
      <p:sp>
        <p:nvSpPr>
          <p:cNvPr id="15" name="Shape 13"/>
          <p:cNvSpPr/>
          <p:nvPr/>
        </p:nvSpPr>
        <p:spPr>
          <a:xfrm>
            <a:off x="365760" y="2880360"/>
            <a:ext cx="3749040" cy="0"/>
          </a:xfrm>
          <a:prstGeom prst="line">
            <a:avLst/>
          </a:prstGeom>
          <a:noFill/>
          <a:ln w="12700">
            <a:solidFill>
              <a:srgbClr val="06B6D4"/>
            </a:solidFill>
            <a:prstDash val="solid"/>
          </a:ln>
        </p:spPr>
      </p:sp>
      <p:sp>
        <p:nvSpPr>
          <p:cNvPr id="16" name="Shape 14"/>
          <p:cNvSpPr/>
          <p:nvPr/>
        </p:nvSpPr>
        <p:spPr>
          <a:xfrm>
            <a:off x="4663440" y="777240"/>
            <a:ext cx="4206240" cy="2971800"/>
          </a:xfrm>
          <a:prstGeom prst="rect">
            <a:avLst/>
          </a:prstGeom>
          <a:solidFill>
            <a:srgbClr val="132337"/>
          </a:solidFill>
          <a:ln w="25400">
            <a:solidFill>
              <a:srgbClr val="EF4444"/>
            </a:solidFill>
            <a:prstDash val="solid"/>
          </a:ln>
        </p:spPr>
      </p:sp>
      <p:sp>
        <p:nvSpPr>
          <p:cNvPr id="17" name="Text 15"/>
          <p:cNvSpPr/>
          <p:nvPr/>
        </p:nvSpPr>
        <p:spPr>
          <a:xfrm>
            <a:off x="4800600" y="822960"/>
            <a:ext cx="3931920" cy="347472"/>
          </a:xfrm>
          <a:prstGeom prst="rect">
            <a:avLst/>
          </a:prstGeom>
          <a:noFill/>
          <a:ln/>
        </p:spPr>
        <p:txBody>
          <a:bodyPr wrap="square" lIns="0" tIns="0" rIns="0" bIns="0" rtlCol="0" anchor="ctr"/>
          <a:lstStyle/>
          <a:p>
            <a:pPr indent="0" marL="0">
              <a:buNone/>
            </a:pPr>
            <a:r>
              <a:rPr lang="en-US" sz="1300" b="1" dirty="0">
                <a:solidFill>
                  <a:srgbClr val="EF4444"/>
                </a:solidFill>
              </a:rPr>
              <a:t>🔒  Internal Network (backend)</a:t>
            </a:r>
            <a:endParaRPr lang="en-US" sz="1300" dirty="0"/>
          </a:p>
        </p:txBody>
      </p:sp>
      <p:sp>
        <p:nvSpPr>
          <p:cNvPr id="18" name="Text 16"/>
          <p:cNvSpPr/>
          <p:nvPr/>
        </p:nvSpPr>
        <p:spPr>
          <a:xfrm>
            <a:off x="4800600" y="1143000"/>
            <a:ext cx="3931920" cy="274320"/>
          </a:xfrm>
          <a:prstGeom prst="rect">
            <a:avLst/>
          </a:prstGeom>
          <a:noFill/>
          <a:ln/>
        </p:spPr>
        <p:txBody>
          <a:bodyPr wrap="square" lIns="0" tIns="0" rIns="0" bIns="0" rtlCol="0" anchor="ctr"/>
          <a:lstStyle/>
          <a:p>
            <a:pPr indent="0" marL="0">
              <a:buNone/>
            </a:pPr>
            <a:r>
              <a:rPr lang="en-US" sz="1100" i="1" dirty="0">
                <a:solidFill>
                  <a:srgbClr val="94A3B8"/>
                </a:solidFill>
              </a:rPr>
              <a:t>No internet access  (internal: true)</a:t>
            </a:r>
            <a:endParaRPr lang="en-US" sz="1100" dirty="0"/>
          </a:p>
        </p:txBody>
      </p:sp>
      <p:sp>
        <p:nvSpPr>
          <p:cNvPr id="19" name="Shape 17"/>
          <p:cNvSpPr/>
          <p:nvPr/>
        </p:nvSpPr>
        <p:spPr>
          <a:xfrm>
            <a:off x="4892040" y="1463040"/>
            <a:ext cx="1645920" cy="1051560"/>
          </a:xfrm>
          <a:prstGeom prst="rect">
            <a:avLst/>
          </a:prstGeom>
          <a:solidFill>
            <a:srgbClr val="0F2942"/>
          </a:solidFill>
          <a:ln w="12700">
            <a:solidFill>
              <a:srgbClr val="EF4444"/>
            </a:solidFill>
            <a:prstDash val="solid"/>
          </a:ln>
        </p:spPr>
      </p:sp>
      <p:sp>
        <p:nvSpPr>
          <p:cNvPr id="20" name="Text 18"/>
          <p:cNvSpPr/>
          <p:nvPr/>
        </p:nvSpPr>
        <p:spPr>
          <a:xfrm>
            <a:off x="4892040" y="1508760"/>
            <a:ext cx="1645920" cy="475488"/>
          </a:xfrm>
          <a:prstGeom prst="rect">
            <a:avLst/>
          </a:prstGeom>
          <a:noFill/>
          <a:ln/>
        </p:spPr>
        <p:txBody>
          <a:bodyPr wrap="square" lIns="0" tIns="0" rIns="0" bIns="0" rtlCol="0" anchor="ctr"/>
          <a:lstStyle/>
          <a:p>
            <a:pPr algn="ctr" indent="0" marL="0">
              <a:buNone/>
            </a:pPr>
            <a:r>
              <a:rPr lang="en-US" sz="1200" b="1" dirty="0">
                <a:solidFill>
                  <a:srgbClr val="EF4444"/>
                </a:solidFill>
              </a:rPr>
              <a:t>postgres</a:t>
            </a:r>
            <a:endParaRPr lang="en-US" sz="1200" dirty="0"/>
          </a:p>
          <a:p>
            <a:pPr algn="ctr" indent="0" marL="0">
              <a:buNone/>
            </a:pPr>
            <a:r>
              <a:rPr lang="en-US" sz="1200" b="1" dirty="0">
                <a:solidFill>
                  <a:srgbClr val="EF4444"/>
                </a:solidFill>
              </a:rPr>
              <a:t>(db)</a:t>
            </a:r>
            <a:endParaRPr lang="en-US" sz="1200" dirty="0"/>
          </a:p>
        </p:txBody>
      </p:sp>
      <p:sp>
        <p:nvSpPr>
          <p:cNvPr id="21" name="Text 19"/>
          <p:cNvSpPr/>
          <p:nvPr/>
        </p:nvSpPr>
        <p:spPr>
          <a:xfrm>
            <a:off x="4892040" y="1993392"/>
            <a:ext cx="1645920" cy="457200"/>
          </a:xfrm>
          <a:prstGeom prst="rect">
            <a:avLst/>
          </a:prstGeom>
          <a:noFill/>
          <a:ln/>
        </p:spPr>
        <p:txBody>
          <a:bodyPr wrap="square" lIns="0" tIns="0" rIns="0" bIns="0" rtlCol="0" anchor="ctr"/>
          <a:lstStyle/>
          <a:p>
            <a:pPr algn="ctr" indent="0" marL="0">
              <a:buNone/>
            </a:pPr>
            <a:r>
              <a:rPr lang="en-US" sz="1000" dirty="0">
                <a:solidFill>
                  <a:srgbClr val="EF4444"/>
                </a:solidFill>
              </a:rPr>
              <a:t>:5432</a:t>
            </a:r>
            <a:endParaRPr lang="en-US" sz="1000" dirty="0"/>
          </a:p>
          <a:p>
            <a:pPr algn="ctr" indent="0" marL="0">
              <a:buNone/>
            </a:pPr>
            <a:r>
              <a:rPr lang="en-US" sz="1000" dirty="0">
                <a:solidFill>
                  <a:srgbClr val="EF4444"/>
                </a:solidFill>
              </a:rPr>
              <a:t>hidden</a:t>
            </a:r>
            <a:endParaRPr lang="en-US" sz="1000" dirty="0"/>
          </a:p>
        </p:txBody>
      </p:sp>
      <p:sp>
        <p:nvSpPr>
          <p:cNvPr id="22" name="Shape 20"/>
          <p:cNvSpPr/>
          <p:nvPr/>
        </p:nvSpPr>
        <p:spPr>
          <a:xfrm>
            <a:off x="6766560" y="1463040"/>
            <a:ext cx="1645920" cy="1051560"/>
          </a:xfrm>
          <a:prstGeom prst="rect">
            <a:avLst/>
          </a:prstGeom>
          <a:solidFill>
            <a:srgbClr val="0F2942"/>
          </a:solidFill>
          <a:ln w="12700">
            <a:solidFill>
              <a:srgbClr val="8B5CF6"/>
            </a:solidFill>
            <a:prstDash val="solid"/>
          </a:ln>
        </p:spPr>
      </p:sp>
      <p:sp>
        <p:nvSpPr>
          <p:cNvPr id="23" name="Text 21"/>
          <p:cNvSpPr/>
          <p:nvPr/>
        </p:nvSpPr>
        <p:spPr>
          <a:xfrm>
            <a:off x="6766560" y="1508760"/>
            <a:ext cx="1645920" cy="475488"/>
          </a:xfrm>
          <a:prstGeom prst="rect">
            <a:avLst/>
          </a:prstGeom>
          <a:noFill/>
          <a:ln/>
        </p:spPr>
        <p:txBody>
          <a:bodyPr wrap="square" lIns="0" tIns="0" rIns="0" bIns="0" rtlCol="0" anchor="ctr"/>
          <a:lstStyle/>
          <a:p>
            <a:pPr algn="ctr" indent="0" marL="0">
              <a:buNone/>
            </a:pPr>
            <a:r>
              <a:rPr lang="en-US" sz="1200" b="1" dirty="0">
                <a:solidFill>
                  <a:srgbClr val="8B5CF6"/>
                </a:solidFill>
              </a:rPr>
              <a:t>redis</a:t>
            </a:r>
            <a:endParaRPr lang="en-US" sz="1200" dirty="0"/>
          </a:p>
          <a:p>
            <a:pPr algn="ctr" indent="0" marL="0">
              <a:buNone/>
            </a:pPr>
            <a:r>
              <a:rPr lang="en-US" sz="1200" b="1" dirty="0">
                <a:solidFill>
                  <a:srgbClr val="8B5CF6"/>
                </a:solidFill>
              </a:rPr>
              <a:t>(cache)</a:t>
            </a:r>
            <a:endParaRPr lang="en-US" sz="1200" dirty="0"/>
          </a:p>
        </p:txBody>
      </p:sp>
      <p:sp>
        <p:nvSpPr>
          <p:cNvPr id="24" name="Text 22"/>
          <p:cNvSpPr/>
          <p:nvPr/>
        </p:nvSpPr>
        <p:spPr>
          <a:xfrm>
            <a:off x="6766560" y="1993392"/>
            <a:ext cx="1645920" cy="457200"/>
          </a:xfrm>
          <a:prstGeom prst="rect">
            <a:avLst/>
          </a:prstGeom>
          <a:noFill/>
          <a:ln/>
        </p:spPr>
        <p:txBody>
          <a:bodyPr wrap="square" lIns="0" tIns="0" rIns="0" bIns="0" rtlCol="0" anchor="ctr"/>
          <a:lstStyle/>
          <a:p>
            <a:pPr algn="ctr" indent="0" marL="0">
              <a:buNone/>
            </a:pPr>
            <a:r>
              <a:rPr lang="en-US" sz="1000" dirty="0">
                <a:solidFill>
                  <a:srgbClr val="8B5CF6"/>
                </a:solidFill>
              </a:rPr>
              <a:t>:6379</a:t>
            </a:r>
            <a:endParaRPr lang="en-US" sz="1000" dirty="0"/>
          </a:p>
          <a:p>
            <a:pPr algn="ctr" indent="0" marL="0">
              <a:buNone/>
            </a:pPr>
            <a:r>
              <a:rPr lang="en-US" sz="1000" dirty="0">
                <a:solidFill>
                  <a:srgbClr val="8B5CF6"/>
                </a:solidFill>
              </a:rPr>
              <a:t>hidden</a:t>
            </a:r>
            <a:endParaRPr lang="en-US" sz="1000" dirty="0"/>
          </a:p>
        </p:txBody>
      </p:sp>
      <p:sp>
        <p:nvSpPr>
          <p:cNvPr id="25" name="Text 23"/>
          <p:cNvSpPr/>
          <p:nvPr/>
        </p:nvSpPr>
        <p:spPr>
          <a:xfrm>
            <a:off x="4800600" y="2606040"/>
            <a:ext cx="3931920" cy="274320"/>
          </a:xfrm>
          <a:prstGeom prst="rect">
            <a:avLst/>
          </a:prstGeom>
          <a:noFill/>
          <a:ln/>
        </p:spPr>
        <p:txBody>
          <a:bodyPr wrap="square" lIns="0" tIns="0" rIns="0" bIns="0" rtlCol="0" anchor="ctr"/>
          <a:lstStyle/>
          <a:p>
            <a:pPr algn="ctr" indent="0" marL="0">
              <a:buNone/>
            </a:pPr>
            <a:r>
              <a:rPr lang="en-US" sz="1000" i="1" dirty="0">
                <a:solidFill>
                  <a:srgbClr val="94A3B8"/>
                </a:solidFill>
              </a:rPr>
              <a:t>Bridge Network (internal: true)</a:t>
            </a:r>
            <a:endParaRPr lang="en-US" sz="1000" dirty="0"/>
          </a:p>
        </p:txBody>
      </p:sp>
      <p:sp>
        <p:nvSpPr>
          <p:cNvPr id="26" name="Shape 24"/>
          <p:cNvSpPr/>
          <p:nvPr/>
        </p:nvSpPr>
        <p:spPr>
          <a:xfrm>
            <a:off x="4800600" y="2880360"/>
            <a:ext cx="3840480" cy="0"/>
          </a:xfrm>
          <a:prstGeom prst="line">
            <a:avLst/>
          </a:prstGeom>
          <a:noFill/>
          <a:ln w="12700">
            <a:solidFill>
              <a:srgbClr val="EF4444"/>
            </a:solidFill>
            <a:prstDash val="solid"/>
          </a:ln>
        </p:spPr>
      </p:sp>
      <p:sp>
        <p:nvSpPr>
          <p:cNvPr id="27" name="Shape 25"/>
          <p:cNvSpPr/>
          <p:nvPr/>
        </p:nvSpPr>
        <p:spPr>
          <a:xfrm>
            <a:off x="228600" y="3840480"/>
            <a:ext cx="8686800" cy="1051560"/>
          </a:xfrm>
          <a:prstGeom prst="rect">
            <a:avLst/>
          </a:prstGeom>
          <a:solidFill>
            <a:srgbClr val="0A1628"/>
          </a:solidFill>
          <a:ln w="12700">
            <a:solidFill>
              <a:srgbClr val="64748B"/>
            </a:solidFill>
            <a:prstDash val="solid"/>
          </a:ln>
        </p:spPr>
      </p:sp>
      <p:sp>
        <p:nvSpPr>
          <p:cNvPr id="28" name="Text 26"/>
          <p:cNvSpPr/>
          <p:nvPr/>
        </p:nvSpPr>
        <p:spPr>
          <a:xfrm>
            <a:off x="365760" y="3858768"/>
            <a:ext cx="1828800" cy="256032"/>
          </a:xfrm>
          <a:prstGeom prst="rect">
            <a:avLst/>
          </a:prstGeom>
          <a:noFill/>
          <a:ln/>
        </p:spPr>
        <p:txBody>
          <a:bodyPr wrap="square" lIns="0" tIns="0" rIns="0" bIns="0" rtlCol="0" anchor="ctr"/>
          <a:lstStyle/>
          <a:p>
            <a:pPr indent="0" marL="0">
              <a:buNone/>
            </a:pPr>
            <a:r>
              <a:rPr lang="en-US" sz="1000" b="1" dirty="0">
                <a:solidFill>
                  <a:srgbClr val="FCD34D"/>
                </a:solidFill>
              </a:rPr>
              <a:t>docker-compose.yml</a:t>
            </a:r>
            <a:endParaRPr lang="en-US" sz="1000" dirty="0"/>
          </a:p>
        </p:txBody>
      </p:sp>
      <p:sp>
        <p:nvSpPr>
          <p:cNvPr id="29" name="Text 27"/>
          <p:cNvSpPr/>
          <p:nvPr/>
        </p:nvSpPr>
        <p:spPr>
          <a:xfrm>
            <a:off x="365760" y="4114800"/>
            <a:ext cx="8321040" cy="685800"/>
          </a:xfrm>
          <a:prstGeom prst="rect">
            <a:avLst/>
          </a:prstGeom>
          <a:noFill/>
          <a:ln/>
        </p:spPr>
        <p:txBody>
          <a:bodyPr wrap="square" lIns="0" tIns="0" rIns="0" bIns="0" rtlCol="0" anchor="ctr"/>
          <a:lstStyle/>
          <a:p>
            <a:pPr indent="0" marL="0">
              <a:buNone/>
            </a:pPr>
            <a:r>
              <a:rPr lang="en-US" sz="1050" dirty="0">
                <a:solidFill>
                  <a:srgbClr val="22C55E"/>
                </a:solidFill>
                <a:latin typeface="Consolas" pitchFamily="34" charset="0"/>
                <a:ea typeface="Consolas" pitchFamily="34" charset="-122"/>
                <a:cs typeface="Consolas" pitchFamily="34" charset="-120"/>
              </a:rPr>
              <a:t>networks:</a:t>
            </a:r>
            <a:endParaRPr lang="en-US" sz="1050" dirty="0"/>
          </a:p>
          <a:p>
            <a:pPr indent="0" marL="0">
              <a:buNone/>
            </a:pPr>
            <a:r>
              <a:rPr lang="en-US" sz="1050" dirty="0">
                <a:solidFill>
                  <a:srgbClr val="22C55E"/>
                </a:solidFill>
                <a:latin typeface="Consolas" pitchFamily="34" charset="0"/>
                <a:ea typeface="Consolas" pitchFamily="34" charset="-122"/>
                <a:cs typeface="Consolas" pitchFamily="34" charset="-120"/>
              </a:rPr>
              <a:t>  frontend:  # bridge, public</a:t>
            </a:r>
            <a:endParaRPr lang="en-US" sz="1050" dirty="0"/>
          </a:p>
          <a:p>
            <a:pPr indent="0" marL="0">
              <a:buNone/>
            </a:pPr>
            <a:r>
              <a:rPr lang="en-US" sz="1050" dirty="0">
                <a:solidFill>
                  <a:srgbClr val="22C55E"/>
                </a:solidFill>
                <a:latin typeface="Consolas" pitchFamily="34" charset="0"/>
                <a:ea typeface="Consolas" pitchFamily="34" charset="-122"/>
                <a:cs typeface="Consolas" pitchFamily="34" charset="-120"/>
              </a:rPr>
              <a:t>  backend:</a:t>
            </a:r>
            <a:endParaRPr lang="en-US" sz="1050" dirty="0"/>
          </a:p>
          <a:p>
            <a:pPr indent="0" marL="0">
              <a:buNone/>
            </a:pPr>
            <a:r>
              <a:rPr lang="en-US" sz="1050" dirty="0">
                <a:solidFill>
                  <a:srgbClr val="22C55E"/>
                </a:solidFill>
                <a:latin typeface="Consolas" pitchFamily="34" charset="0"/>
                <a:ea typeface="Consolas" pitchFamily="34" charset="-122"/>
                <a:cs typeface="Consolas" pitchFamily="34" charset="-120"/>
              </a:rPr>
              <a:t>    internal: true  # no internet — DB stays safe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w="12700">
            <a:solidFill>
              <a:srgbClr val="1A3A5C"/>
            </a:solidFill>
            <a:prstDash val="solid"/>
          </a:ln>
        </p:spPr>
      </p:sp>
      <p:sp>
        <p:nvSpPr>
          <p:cNvPr id="3" name="Text 1"/>
          <p:cNvSpPr/>
          <p:nvPr/>
        </p:nvSpPr>
        <p:spPr>
          <a:xfrm>
            <a:off x="274320" y="91440"/>
            <a:ext cx="8595360" cy="502920"/>
          </a:xfrm>
          <a:prstGeom prst="rect">
            <a:avLst/>
          </a:prstGeom>
          <a:noFill/>
          <a:ln/>
        </p:spPr>
        <p:txBody>
          <a:bodyPr wrap="square" lIns="0" tIns="0" rIns="0" bIns="0" rtlCol="0" anchor="ctr"/>
          <a:lstStyle/>
          <a:p>
            <a:pPr indent="0" marL="0">
              <a:buNone/>
            </a:pPr>
            <a:r>
              <a:rPr lang="en-US" sz="2000" b="1" dirty="0">
                <a:solidFill>
                  <a:srgbClr val="06B6D4"/>
                </a:solidFill>
                <a:latin typeface="Arial Black" pitchFamily="34" charset="0"/>
                <a:ea typeface="Arial Black" pitchFamily="34" charset="-122"/>
                <a:cs typeface="Arial Black" pitchFamily="34" charset="-120"/>
              </a:rPr>
              <a:t>🔧  TROUBLESHOOTING &amp; KEY TAKEAWAYS</a:t>
            </a:r>
            <a:endParaRPr lang="en-US" sz="2000" dirty="0"/>
          </a:p>
        </p:txBody>
      </p:sp>
      <p:sp>
        <p:nvSpPr>
          <p:cNvPr id="4" name="Shape 2"/>
          <p:cNvSpPr/>
          <p:nvPr/>
        </p:nvSpPr>
        <p:spPr>
          <a:xfrm>
            <a:off x="228600" y="777240"/>
            <a:ext cx="4160520" cy="3017520"/>
          </a:xfrm>
          <a:prstGeom prst="rect">
            <a:avLst/>
          </a:prstGeom>
          <a:solidFill>
            <a:srgbClr val="132337"/>
          </a:solidFill>
          <a:ln w="12700">
            <a:solidFill>
              <a:srgbClr val="F97316"/>
            </a:solidFill>
            <a:prstDash val="solid"/>
          </a:ln>
        </p:spPr>
      </p:sp>
      <p:sp>
        <p:nvSpPr>
          <p:cNvPr id="5" name="Text 3"/>
          <p:cNvSpPr/>
          <p:nvPr/>
        </p:nvSpPr>
        <p:spPr>
          <a:xfrm>
            <a:off x="365760" y="822960"/>
            <a:ext cx="3931920" cy="365760"/>
          </a:xfrm>
          <a:prstGeom prst="rect">
            <a:avLst/>
          </a:prstGeom>
          <a:noFill/>
          <a:ln/>
        </p:spPr>
        <p:txBody>
          <a:bodyPr wrap="square" lIns="0" tIns="0" rIns="0" bIns="0" rtlCol="0" anchor="ctr"/>
          <a:lstStyle/>
          <a:p>
            <a:pPr indent="0" marL="0">
              <a:buNone/>
            </a:pPr>
            <a:r>
              <a:rPr lang="en-US" sz="1300" b="1" dirty="0">
                <a:solidFill>
                  <a:srgbClr val="F97316"/>
                </a:solidFill>
              </a:rPr>
              <a:t>🚨  Common Issues</a:t>
            </a:r>
            <a:endParaRPr lang="en-US" sz="1300" dirty="0"/>
          </a:p>
        </p:txBody>
      </p:sp>
      <p:sp>
        <p:nvSpPr>
          <p:cNvPr id="6" name="Shape 4"/>
          <p:cNvSpPr/>
          <p:nvPr/>
        </p:nvSpPr>
        <p:spPr>
          <a:xfrm>
            <a:off x="320040" y="1261872"/>
            <a:ext cx="3931920" cy="548640"/>
          </a:xfrm>
          <a:prstGeom prst="rect">
            <a:avLst/>
          </a:prstGeom>
          <a:solidFill>
            <a:srgbClr val="0F2942"/>
          </a:solidFill>
          <a:ln w="12700">
            <a:solidFill>
              <a:srgbClr val="64748B"/>
            </a:solidFill>
            <a:prstDash val="solid"/>
          </a:ln>
        </p:spPr>
      </p:sp>
      <p:sp>
        <p:nvSpPr>
          <p:cNvPr id="7" name="Text 5"/>
          <p:cNvSpPr/>
          <p:nvPr/>
        </p:nvSpPr>
        <p:spPr>
          <a:xfrm>
            <a:off x="438912" y="1280160"/>
            <a:ext cx="3703320" cy="256032"/>
          </a:xfrm>
          <a:prstGeom prst="rect">
            <a:avLst/>
          </a:prstGeom>
          <a:noFill/>
          <a:ln/>
        </p:spPr>
        <p:txBody>
          <a:bodyPr wrap="square" lIns="0" tIns="0" rIns="0" bIns="0" rtlCol="0" anchor="ctr"/>
          <a:lstStyle/>
          <a:p>
            <a:pPr indent="0" marL="0">
              <a:buNone/>
            </a:pPr>
            <a:r>
              <a:rPr lang="en-US" sz="1050" b="1" dirty="0">
                <a:solidFill>
                  <a:srgbClr val="FFFFFF"/>
                </a:solidFill>
              </a:rPr>
              <a:t>Containers can't find each other by name?</a:t>
            </a:r>
            <a:endParaRPr lang="en-US" sz="1050" dirty="0"/>
          </a:p>
        </p:txBody>
      </p:sp>
      <p:sp>
        <p:nvSpPr>
          <p:cNvPr id="8" name="Text 6"/>
          <p:cNvSpPr/>
          <p:nvPr/>
        </p:nvSpPr>
        <p:spPr>
          <a:xfrm>
            <a:off x="438912" y="1536192"/>
            <a:ext cx="3703320" cy="256032"/>
          </a:xfrm>
          <a:prstGeom prst="rect">
            <a:avLst/>
          </a:prstGeom>
          <a:noFill/>
          <a:ln/>
        </p:spPr>
        <p:txBody>
          <a:bodyPr wrap="square" lIns="0" tIns="0" rIns="0" bIns="0" rtlCol="0" anchor="ctr"/>
          <a:lstStyle/>
          <a:p>
            <a:pPr indent="0" marL="0">
              <a:buNone/>
            </a:pPr>
            <a:r>
              <a:rPr lang="en-US" sz="1000" dirty="0">
                <a:solidFill>
                  <a:srgbClr val="22C55E"/>
                </a:solidFill>
              </a:rPr>
              <a:t>→ Use custom bridge (default bridge has no DNS)</a:t>
            </a:r>
            <a:endParaRPr lang="en-US" sz="1000" dirty="0"/>
          </a:p>
        </p:txBody>
      </p:sp>
      <p:sp>
        <p:nvSpPr>
          <p:cNvPr id="9" name="Shape 7"/>
          <p:cNvSpPr/>
          <p:nvPr/>
        </p:nvSpPr>
        <p:spPr>
          <a:xfrm>
            <a:off x="320040" y="1883664"/>
            <a:ext cx="3931920" cy="548640"/>
          </a:xfrm>
          <a:prstGeom prst="rect">
            <a:avLst/>
          </a:prstGeom>
          <a:solidFill>
            <a:srgbClr val="0F2942"/>
          </a:solidFill>
          <a:ln w="12700">
            <a:solidFill>
              <a:srgbClr val="64748B"/>
            </a:solidFill>
            <a:prstDash val="solid"/>
          </a:ln>
        </p:spPr>
      </p:sp>
      <p:sp>
        <p:nvSpPr>
          <p:cNvPr id="10" name="Text 8"/>
          <p:cNvSpPr/>
          <p:nvPr/>
        </p:nvSpPr>
        <p:spPr>
          <a:xfrm>
            <a:off x="438912" y="1901952"/>
            <a:ext cx="3703320" cy="256032"/>
          </a:xfrm>
          <a:prstGeom prst="rect">
            <a:avLst/>
          </a:prstGeom>
          <a:noFill/>
          <a:ln/>
        </p:spPr>
        <p:txBody>
          <a:bodyPr wrap="square" lIns="0" tIns="0" rIns="0" bIns="0" rtlCol="0" anchor="ctr"/>
          <a:lstStyle/>
          <a:p>
            <a:pPr indent="0" marL="0">
              <a:buNone/>
            </a:pPr>
            <a:r>
              <a:rPr lang="en-US" sz="1050" b="1" dirty="0">
                <a:solidFill>
                  <a:srgbClr val="FFFFFF"/>
                </a:solidFill>
              </a:rPr>
              <a:t>Port already in use?</a:t>
            </a:r>
            <a:endParaRPr lang="en-US" sz="1050" dirty="0"/>
          </a:p>
        </p:txBody>
      </p:sp>
      <p:sp>
        <p:nvSpPr>
          <p:cNvPr id="11" name="Text 9"/>
          <p:cNvSpPr/>
          <p:nvPr/>
        </p:nvSpPr>
        <p:spPr>
          <a:xfrm>
            <a:off x="438912" y="2157984"/>
            <a:ext cx="3703320" cy="256032"/>
          </a:xfrm>
          <a:prstGeom prst="rect">
            <a:avLst/>
          </a:prstGeom>
          <a:noFill/>
          <a:ln/>
        </p:spPr>
        <p:txBody>
          <a:bodyPr wrap="square" lIns="0" tIns="0" rIns="0" bIns="0" rtlCol="0" anchor="ctr"/>
          <a:lstStyle/>
          <a:p>
            <a:pPr indent="0" marL="0">
              <a:buNone/>
            </a:pPr>
            <a:r>
              <a:rPr lang="en-US" sz="1000" dirty="0">
                <a:solidFill>
                  <a:srgbClr val="22C55E"/>
                </a:solidFill>
              </a:rPr>
              <a:t>→ Check: sudo lsof -i :&lt;port&gt;  or change host port</a:t>
            </a:r>
            <a:endParaRPr lang="en-US" sz="1000" dirty="0"/>
          </a:p>
        </p:txBody>
      </p:sp>
      <p:sp>
        <p:nvSpPr>
          <p:cNvPr id="12" name="Shape 10"/>
          <p:cNvSpPr/>
          <p:nvPr/>
        </p:nvSpPr>
        <p:spPr>
          <a:xfrm>
            <a:off x="320040" y="2505456"/>
            <a:ext cx="3931920" cy="548640"/>
          </a:xfrm>
          <a:prstGeom prst="rect">
            <a:avLst/>
          </a:prstGeom>
          <a:solidFill>
            <a:srgbClr val="0F2942"/>
          </a:solidFill>
          <a:ln w="12700">
            <a:solidFill>
              <a:srgbClr val="64748B"/>
            </a:solidFill>
            <a:prstDash val="solid"/>
          </a:ln>
        </p:spPr>
      </p:sp>
      <p:sp>
        <p:nvSpPr>
          <p:cNvPr id="13" name="Text 11"/>
          <p:cNvSpPr/>
          <p:nvPr/>
        </p:nvSpPr>
        <p:spPr>
          <a:xfrm>
            <a:off x="438912" y="2523744"/>
            <a:ext cx="3703320" cy="256032"/>
          </a:xfrm>
          <a:prstGeom prst="rect">
            <a:avLst/>
          </a:prstGeom>
          <a:noFill/>
          <a:ln/>
        </p:spPr>
        <p:txBody>
          <a:bodyPr wrap="square" lIns="0" tIns="0" rIns="0" bIns="0" rtlCol="0" anchor="ctr"/>
          <a:lstStyle/>
          <a:p>
            <a:pPr indent="0" marL="0">
              <a:buNone/>
            </a:pPr>
            <a:r>
              <a:rPr lang="en-US" sz="1050" b="1" dirty="0">
                <a:solidFill>
                  <a:srgbClr val="FFFFFF"/>
                </a:solidFill>
              </a:rPr>
              <a:t>Container has no internet?</a:t>
            </a:r>
            <a:endParaRPr lang="en-US" sz="1050" dirty="0"/>
          </a:p>
        </p:txBody>
      </p:sp>
      <p:sp>
        <p:nvSpPr>
          <p:cNvPr id="14" name="Text 12"/>
          <p:cNvSpPr/>
          <p:nvPr/>
        </p:nvSpPr>
        <p:spPr>
          <a:xfrm>
            <a:off x="438912" y="2779776"/>
            <a:ext cx="3703320" cy="256032"/>
          </a:xfrm>
          <a:prstGeom prst="rect">
            <a:avLst/>
          </a:prstGeom>
          <a:noFill/>
          <a:ln/>
        </p:spPr>
        <p:txBody>
          <a:bodyPr wrap="square" lIns="0" tIns="0" rIns="0" bIns="0" rtlCol="0" anchor="ctr"/>
          <a:lstStyle/>
          <a:p>
            <a:pPr indent="0" marL="0">
              <a:buNone/>
            </a:pPr>
            <a:r>
              <a:rPr lang="en-US" sz="1000" dirty="0">
                <a:solidFill>
                  <a:srgbClr val="22C55E"/>
                </a:solidFill>
              </a:rPr>
              <a:t>→ Verify nslookup works inside container</a:t>
            </a:r>
            <a:endParaRPr lang="en-US" sz="1000" dirty="0"/>
          </a:p>
        </p:txBody>
      </p:sp>
      <p:sp>
        <p:nvSpPr>
          <p:cNvPr id="15" name="Shape 13"/>
          <p:cNvSpPr/>
          <p:nvPr/>
        </p:nvSpPr>
        <p:spPr>
          <a:xfrm>
            <a:off x="320040" y="3127248"/>
            <a:ext cx="3931920" cy="548640"/>
          </a:xfrm>
          <a:prstGeom prst="rect">
            <a:avLst/>
          </a:prstGeom>
          <a:solidFill>
            <a:srgbClr val="0F2942"/>
          </a:solidFill>
          <a:ln w="12700">
            <a:solidFill>
              <a:srgbClr val="64748B"/>
            </a:solidFill>
            <a:prstDash val="solid"/>
          </a:ln>
        </p:spPr>
      </p:sp>
      <p:sp>
        <p:nvSpPr>
          <p:cNvPr id="16" name="Text 14"/>
          <p:cNvSpPr/>
          <p:nvPr/>
        </p:nvSpPr>
        <p:spPr>
          <a:xfrm>
            <a:off x="438912" y="3145536"/>
            <a:ext cx="3703320" cy="256032"/>
          </a:xfrm>
          <a:prstGeom prst="rect">
            <a:avLst/>
          </a:prstGeom>
          <a:noFill/>
          <a:ln/>
        </p:spPr>
        <p:txBody>
          <a:bodyPr wrap="square" lIns="0" tIns="0" rIns="0" bIns="0" rtlCol="0" anchor="ctr"/>
          <a:lstStyle/>
          <a:p>
            <a:pPr indent="0" marL="0">
              <a:buNone/>
            </a:pPr>
            <a:r>
              <a:rPr lang="en-US" sz="1050" b="1" dirty="0">
                <a:solidFill>
                  <a:srgbClr val="FFFFFF"/>
                </a:solidFill>
              </a:rPr>
              <a:t>Can't reach container from outside?</a:t>
            </a:r>
            <a:endParaRPr lang="en-US" sz="1050" dirty="0"/>
          </a:p>
        </p:txBody>
      </p:sp>
      <p:sp>
        <p:nvSpPr>
          <p:cNvPr id="17" name="Text 15"/>
          <p:cNvSpPr/>
          <p:nvPr/>
        </p:nvSpPr>
        <p:spPr>
          <a:xfrm>
            <a:off x="438912" y="3401568"/>
            <a:ext cx="3703320" cy="256032"/>
          </a:xfrm>
          <a:prstGeom prst="rect">
            <a:avLst/>
          </a:prstGeom>
          <a:noFill/>
          <a:ln/>
        </p:spPr>
        <p:txBody>
          <a:bodyPr wrap="square" lIns="0" tIns="0" rIns="0" bIns="0" rtlCol="0" anchor="ctr"/>
          <a:lstStyle/>
          <a:p>
            <a:pPr indent="0" marL="0">
              <a:buNone/>
            </a:pPr>
            <a:r>
              <a:rPr lang="en-US" sz="1000" dirty="0">
                <a:solidFill>
                  <a:srgbClr val="22C55E"/>
                </a:solidFill>
              </a:rPr>
              <a:t>→ Check -p flag and firewall (ufw status)</a:t>
            </a:r>
            <a:endParaRPr lang="en-US" sz="1000" dirty="0"/>
          </a:p>
        </p:txBody>
      </p:sp>
      <p:sp>
        <p:nvSpPr>
          <p:cNvPr id="18" name="Shape 16"/>
          <p:cNvSpPr/>
          <p:nvPr/>
        </p:nvSpPr>
        <p:spPr>
          <a:xfrm>
            <a:off x="4663440" y="777240"/>
            <a:ext cx="4251960" cy="3017520"/>
          </a:xfrm>
          <a:prstGeom prst="rect">
            <a:avLst/>
          </a:prstGeom>
          <a:solidFill>
            <a:srgbClr val="132337"/>
          </a:solidFill>
          <a:ln w="12700">
            <a:solidFill>
              <a:srgbClr val="06B6D4"/>
            </a:solidFill>
            <a:prstDash val="solid"/>
          </a:ln>
        </p:spPr>
      </p:sp>
      <p:sp>
        <p:nvSpPr>
          <p:cNvPr id="19" name="Text 17"/>
          <p:cNvSpPr/>
          <p:nvPr/>
        </p:nvSpPr>
        <p:spPr>
          <a:xfrm>
            <a:off x="4800600" y="822960"/>
            <a:ext cx="3931920" cy="365760"/>
          </a:xfrm>
          <a:prstGeom prst="rect">
            <a:avLst/>
          </a:prstGeom>
          <a:noFill/>
          <a:ln/>
        </p:spPr>
        <p:txBody>
          <a:bodyPr wrap="square" lIns="0" tIns="0" rIns="0" bIns="0" rtlCol="0" anchor="ctr"/>
          <a:lstStyle/>
          <a:p>
            <a:pPr indent="0" marL="0">
              <a:buNone/>
            </a:pPr>
            <a:r>
              <a:rPr lang="en-US" sz="1300" b="1" dirty="0">
                <a:solidFill>
                  <a:srgbClr val="06B6D4"/>
                </a:solidFill>
              </a:rPr>
              <a:t>💡  Key Takeaways</a:t>
            </a:r>
            <a:endParaRPr lang="en-US" sz="1300" dirty="0"/>
          </a:p>
        </p:txBody>
      </p:sp>
      <p:sp>
        <p:nvSpPr>
          <p:cNvPr id="20" name="Shape 18"/>
          <p:cNvSpPr/>
          <p:nvPr/>
        </p:nvSpPr>
        <p:spPr>
          <a:xfrm>
            <a:off x="4754880" y="1261872"/>
            <a:ext cx="4023360" cy="548640"/>
          </a:xfrm>
          <a:prstGeom prst="rect">
            <a:avLst/>
          </a:prstGeom>
          <a:solidFill>
            <a:srgbClr val="0F2942"/>
          </a:solidFill>
          <a:ln w="12700">
            <a:solidFill>
              <a:srgbClr val="06B6D4">
                <a:alpha val="50000"/>
              </a:srgbClr>
            </a:solidFill>
            <a:prstDash val="solid"/>
          </a:ln>
        </p:spPr>
      </p:sp>
      <p:sp>
        <p:nvSpPr>
          <p:cNvPr id="21" name="Text 19"/>
          <p:cNvSpPr/>
          <p:nvPr/>
        </p:nvSpPr>
        <p:spPr>
          <a:xfrm>
            <a:off x="4864608" y="1280160"/>
            <a:ext cx="3794760" cy="256032"/>
          </a:xfrm>
          <a:prstGeom prst="rect">
            <a:avLst/>
          </a:prstGeom>
          <a:noFill/>
          <a:ln/>
        </p:spPr>
        <p:txBody>
          <a:bodyPr wrap="square" lIns="0" tIns="0" rIns="0" bIns="0" rtlCol="0" anchor="ctr"/>
          <a:lstStyle/>
          <a:p>
            <a:pPr indent="0" marL="0">
              <a:buNone/>
            </a:pPr>
            <a:r>
              <a:rPr lang="en-US" sz="1050" b="1" dirty="0">
                <a:solidFill>
                  <a:srgbClr val="06B6D4"/>
                </a:solidFill>
              </a:rPr>
              <a:t>🏢  Always use custom bridge networks</a:t>
            </a:r>
            <a:endParaRPr lang="en-US" sz="1050" dirty="0"/>
          </a:p>
        </p:txBody>
      </p:sp>
      <p:sp>
        <p:nvSpPr>
          <p:cNvPr id="22" name="Text 20"/>
          <p:cNvSpPr/>
          <p:nvPr/>
        </p:nvSpPr>
        <p:spPr>
          <a:xfrm>
            <a:off x="4864608" y="1536192"/>
            <a:ext cx="3794760" cy="256032"/>
          </a:xfrm>
          <a:prstGeom prst="rect">
            <a:avLst/>
          </a:prstGeom>
          <a:noFill/>
          <a:ln/>
        </p:spPr>
        <p:txBody>
          <a:bodyPr wrap="square" lIns="0" tIns="0" rIns="0" bIns="0" rtlCol="0" anchor="ctr"/>
          <a:lstStyle/>
          <a:p>
            <a:pPr indent="0" marL="0">
              <a:buNone/>
            </a:pPr>
            <a:r>
              <a:rPr lang="en-US" sz="1000" dirty="0">
                <a:solidFill>
                  <a:srgbClr val="94A3B8"/>
                </a:solidFill>
              </a:rPr>
              <a:t>Automatic DNS, better isolation</a:t>
            </a:r>
            <a:endParaRPr lang="en-US" sz="1000" dirty="0"/>
          </a:p>
        </p:txBody>
      </p:sp>
      <p:sp>
        <p:nvSpPr>
          <p:cNvPr id="23" name="Shape 21"/>
          <p:cNvSpPr/>
          <p:nvPr/>
        </p:nvSpPr>
        <p:spPr>
          <a:xfrm>
            <a:off x="4754880" y="1883664"/>
            <a:ext cx="4023360" cy="548640"/>
          </a:xfrm>
          <a:prstGeom prst="rect">
            <a:avLst/>
          </a:prstGeom>
          <a:solidFill>
            <a:srgbClr val="0F2942"/>
          </a:solidFill>
          <a:ln w="12700">
            <a:solidFill>
              <a:srgbClr val="06B6D4">
                <a:alpha val="50000"/>
              </a:srgbClr>
            </a:solidFill>
            <a:prstDash val="solid"/>
          </a:ln>
        </p:spPr>
      </p:sp>
      <p:sp>
        <p:nvSpPr>
          <p:cNvPr id="24" name="Text 22"/>
          <p:cNvSpPr/>
          <p:nvPr/>
        </p:nvSpPr>
        <p:spPr>
          <a:xfrm>
            <a:off x="4864608" y="1901952"/>
            <a:ext cx="3794760" cy="256032"/>
          </a:xfrm>
          <a:prstGeom prst="rect">
            <a:avLst/>
          </a:prstGeom>
          <a:noFill/>
          <a:ln/>
        </p:spPr>
        <p:txBody>
          <a:bodyPr wrap="square" lIns="0" tIns="0" rIns="0" bIns="0" rtlCol="0" anchor="ctr"/>
          <a:lstStyle/>
          <a:p>
            <a:pPr indent="0" marL="0">
              <a:buNone/>
            </a:pPr>
            <a:r>
              <a:rPr lang="en-US" sz="1050" b="1" dirty="0">
                <a:solidFill>
                  <a:srgbClr val="06B6D4"/>
                </a:solidFill>
              </a:rPr>
              <a:t>🔒  Segment public vs. private</a:t>
            </a:r>
            <a:endParaRPr lang="en-US" sz="1050" dirty="0"/>
          </a:p>
        </p:txBody>
      </p:sp>
      <p:sp>
        <p:nvSpPr>
          <p:cNvPr id="25" name="Text 23"/>
          <p:cNvSpPr/>
          <p:nvPr/>
        </p:nvSpPr>
        <p:spPr>
          <a:xfrm>
            <a:off x="4864608" y="2157984"/>
            <a:ext cx="3794760" cy="256032"/>
          </a:xfrm>
          <a:prstGeom prst="rect">
            <a:avLst/>
          </a:prstGeom>
          <a:noFill/>
          <a:ln/>
        </p:spPr>
        <p:txBody>
          <a:bodyPr wrap="square" lIns="0" tIns="0" rIns="0" bIns="0" rtlCol="0" anchor="ctr"/>
          <a:lstStyle/>
          <a:p>
            <a:pPr indent="0" marL="0">
              <a:buNone/>
            </a:pPr>
            <a:r>
              <a:rPr lang="en-US" sz="1000" dirty="0">
                <a:solidFill>
                  <a:srgbClr val="94A3B8"/>
                </a:solidFill>
              </a:rPr>
              <a:t>Frontend on DMZ, DB on internal net</a:t>
            </a:r>
            <a:endParaRPr lang="en-US" sz="1000" dirty="0"/>
          </a:p>
        </p:txBody>
      </p:sp>
      <p:sp>
        <p:nvSpPr>
          <p:cNvPr id="26" name="Shape 24"/>
          <p:cNvSpPr/>
          <p:nvPr/>
        </p:nvSpPr>
        <p:spPr>
          <a:xfrm>
            <a:off x="4754880" y="2505456"/>
            <a:ext cx="4023360" cy="548640"/>
          </a:xfrm>
          <a:prstGeom prst="rect">
            <a:avLst/>
          </a:prstGeom>
          <a:solidFill>
            <a:srgbClr val="0F2942"/>
          </a:solidFill>
          <a:ln w="12700">
            <a:solidFill>
              <a:srgbClr val="06B6D4">
                <a:alpha val="50000"/>
              </a:srgbClr>
            </a:solidFill>
            <a:prstDash val="solid"/>
          </a:ln>
        </p:spPr>
      </p:sp>
      <p:sp>
        <p:nvSpPr>
          <p:cNvPr id="27" name="Text 25"/>
          <p:cNvSpPr/>
          <p:nvPr/>
        </p:nvSpPr>
        <p:spPr>
          <a:xfrm>
            <a:off x="4864608" y="2523744"/>
            <a:ext cx="3794760" cy="256032"/>
          </a:xfrm>
          <a:prstGeom prst="rect">
            <a:avLst/>
          </a:prstGeom>
          <a:noFill/>
          <a:ln/>
        </p:spPr>
        <p:txBody>
          <a:bodyPr wrap="square" lIns="0" tIns="0" rIns="0" bIns="0" rtlCol="0" anchor="ctr"/>
          <a:lstStyle/>
          <a:p>
            <a:pPr indent="0" marL="0">
              <a:buNone/>
            </a:pPr>
            <a:r>
              <a:rPr lang="en-US" sz="1050" b="1" dirty="0">
                <a:solidFill>
                  <a:srgbClr val="06B6D4"/>
                </a:solidFill>
              </a:rPr>
              <a:t>🚫  Never expose ports you don't need</a:t>
            </a:r>
            <a:endParaRPr lang="en-US" sz="1050" dirty="0"/>
          </a:p>
        </p:txBody>
      </p:sp>
      <p:sp>
        <p:nvSpPr>
          <p:cNvPr id="28" name="Text 26"/>
          <p:cNvSpPr/>
          <p:nvPr/>
        </p:nvSpPr>
        <p:spPr>
          <a:xfrm>
            <a:off x="4864608" y="2779776"/>
            <a:ext cx="3794760" cy="256032"/>
          </a:xfrm>
          <a:prstGeom prst="rect">
            <a:avLst/>
          </a:prstGeom>
          <a:noFill/>
          <a:ln/>
        </p:spPr>
        <p:txBody>
          <a:bodyPr wrap="square" lIns="0" tIns="0" rIns="0" bIns="0" rtlCol="0" anchor="ctr"/>
          <a:lstStyle/>
          <a:p>
            <a:pPr indent="0" marL="0">
              <a:buNone/>
            </a:pPr>
            <a:r>
              <a:rPr lang="en-US" sz="1000" dirty="0">
                <a:solidFill>
                  <a:srgbClr val="94A3B8"/>
                </a:solidFill>
              </a:rPr>
              <a:t>Minimize attack surface</a:t>
            </a:r>
            <a:endParaRPr lang="en-US" sz="1000" dirty="0"/>
          </a:p>
        </p:txBody>
      </p:sp>
      <p:sp>
        <p:nvSpPr>
          <p:cNvPr id="29" name="Shape 27"/>
          <p:cNvSpPr/>
          <p:nvPr/>
        </p:nvSpPr>
        <p:spPr>
          <a:xfrm>
            <a:off x="4754880" y="3127248"/>
            <a:ext cx="4023360" cy="548640"/>
          </a:xfrm>
          <a:prstGeom prst="rect">
            <a:avLst/>
          </a:prstGeom>
          <a:solidFill>
            <a:srgbClr val="0F2942"/>
          </a:solidFill>
          <a:ln w="12700">
            <a:solidFill>
              <a:srgbClr val="06B6D4">
                <a:alpha val="50000"/>
              </a:srgbClr>
            </a:solidFill>
            <a:prstDash val="solid"/>
          </a:ln>
        </p:spPr>
      </p:sp>
      <p:sp>
        <p:nvSpPr>
          <p:cNvPr id="30" name="Text 28"/>
          <p:cNvSpPr/>
          <p:nvPr/>
        </p:nvSpPr>
        <p:spPr>
          <a:xfrm>
            <a:off x="4864608" y="3145536"/>
            <a:ext cx="3794760" cy="256032"/>
          </a:xfrm>
          <a:prstGeom prst="rect">
            <a:avLst/>
          </a:prstGeom>
          <a:noFill/>
          <a:ln/>
        </p:spPr>
        <p:txBody>
          <a:bodyPr wrap="square" lIns="0" tIns="0" rIns="0" bIns="0" rtlCol="0" anchor="ctr"/>
          <a:lstStyle/>
          <a:p>
            <a:pPr indent="0" marL="0">
              <a:buNone/>
            </a:pPr>
            <a:r>
              <a:rPr lang="en-US" sz="1050" b="1" dirty="0">
                <a:solidFill>
                  <a:srgbClr val="06B6D4"/>
                </a:solidFill>
              </a:rPr>
              <a:t>🔀  Bridge for most apps</a:t>
            </a:r>
            <a:endParaRPr lang="en-US" sz="1050" dirty="0"/>
          </a:p>
        </p:txBody>
      </p:sp>
      <p:sp>
        <p:nvSpPr>
          <p:cNvPr id="31" name="Text 29"/>
          <p:cNvSpPr/>
          <p:nvPr/>
        </p:nvSpPr>
        <p:spPr>
          <a:xfrm>
            <a:off x="4864608" y="3401568"/>
            <a:ext cx="3794760" cy="256032"/>
          </a:xfrm>
          <a:prstGeom prst="rect">
            <a:avLst/>
          </a:prstGeom>
          <a:noFill/>
          <a:ln/>
        </p:spPr>
        <p:txBody>
          <a:bodyPr wrap="square" lIns="0" tIns="0" rIns="0" bIns="0" rtlCol="0" anchor="ctr"/>
          <a:lstStyle/>
          <a:p>
            <a:pPr indent="0" marL="0">
              <a:buNone/>
            </a:pPr>
            <a:r>
              <a:rPr lang="en-US" sz="1000" dirty="0">
                <a:solidFill>
                  <a:srgbClr val="94A3B8"/>
                </a:solidFill>
              </a:rPr>
              <a:t>Host for performance, None for isolation</a:t>
            </a:r>
            <a:endParaRPr lang="en-US" sz="1000" dirty="0"/>
          </a:p>
        </p:txBody>
      </p:sp>
      <p:sp>
        <p:nvSpPr>
          <p:cNvPr id="32" name="Shape 30"/>
          <p:cNvSpPr/>
          <p:nvPr/>
        </p:nvSpPr>
        <p:spPr>
          <a:xfrm>
            <a:off x="228600" y="3886200"/>
            <a:ext cx="8686800" cy="1005840"/>
          </a:xfrm>
          <a:prstGeom prst="rect">
            <a:avLst/>
          </a:prstGeom>
          <a:solidFill>
            <a:srgbClr val="0A1628"/>
          </a:solidFill>
          <a:ln w="12700">
            <a:solidFill>
              <a:srgbClr val="64748B"/>
            </a:solidFill>
            <a:prstDash val="solid"/>
          </a:ln>
        </p:spPr>
      </p:sp>
      <p:sp>
        <p:nvSpPr>
          <p:cNvPr id="33" name="Text 31"/>
          <p:cNvSpPr/>
          <p:nvPr/>
        </p:nvSpPr>
        <p:spPr>
          <a:xfrm>
            <a:off x="365760" y="3904488"/>
            <a:ext cx="2743200" cy="274320"/>
          </a:xfrm>
          <a:prstGeom prst="rect">
            <a:avLst/>
          </a:prstGeom>
          <a:noFill/>
          <a:ln/>
        </p:spPr>
        <p:txBody>
          <a:bodyPr wrap="square" lIns="0" tIns="0" rIns="0" bIns="0" rtlCol="0" anchor="ctr"/>
          <a:lstStyle/>
          <a:p>
            <a:pPr indent="0" marL="0">
              <a:buNone/>
            </a:pPr>
            <a:r>
              <a:rPr lang="en-US" sz="1050" b="1" dirty="0">
                <a:solidFill>
                  <a:srgbClr val="FCD34D"/>
                </a:solidFill>
              </a:rPr>
              <a:t>Quick Debug Commands:</a:t>
            </a:r>
            <a:endParaRPr lang="en-US" sz="1050" dirty="0"/>
          </a:p>
        </p:txBody>
      </p:sp>
      <p:sp>
        <p:nvSpPr>
          <p:cNvPr id="34" name="Text 32"/>
          <p:cNvSpPr/>
          <p:nvPr/>
        </p:nvSpPr>
        <p:spPr>
          <a:xfrm>
            <a:off x="365760" y="4187952"/>
            <a:ext cx="8321040" cy="640080"/>
          </a:xfrm>
          <a:prstGeom prst="rect">
            <a:avLst/>
          </a:prstGeom>
          <a:noFill/>
          <a:ln/>
        </p:spPr>
        <p:txBody>
          <a:bodyPr wrap="square" lIns="0" tIns="0" rIns="0" bIns="0" rtlCol="0" anchor="ctr"/>
          <a:lstStyle/>
          <a:p>
            <a:pPr indent="0" marL="0">
              <a:buNone/>
            </a:pPr>
            <a:r>
              <a:rPr lang="en-US" sz="1050" dirty="0">
                <a:solidFill>
                  <a:srgbClr val="22C55E"/>
                </a:solidFill>
                <a:latin typeface="Consolas" pitchFamily="34" charset="0"/>
                <a:ea typeface="Consolas" pitchFamily="34" charset="-122"/>
                <a:cs typeface="Consolas" pitchFamily="34" charset="-120"/>
              </a:rPr>
              <a:t>docker network ls  |  docker network inspect &lt;net&gt;  |  docker exec &lt;c&gt; ip addr  |  docker exec &lt;c&gt; nslookup &lt;target&gt;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Network Types - Deep Dive</dc:title>
  <dc:subject>PptxGenJS Presentation</dc:subject>
  <dc:creator>PptxGenJS</dc:creator>
  <cp:lastModifiedBy>PptxGenJS</cp:lastModifiedBy>
  <cp:revision>1</cp:revision>
  <dcterms:created xsi:type="dcterms:W3CDTF">2026-04-24T05:53:12Z</dcterms:created>
  <dcterms:modified xsi:type="dcterms:W3CDTF">2026-04-24T05:53:12Z</dcterms:modified>
</cp:coreProperties>
</file>